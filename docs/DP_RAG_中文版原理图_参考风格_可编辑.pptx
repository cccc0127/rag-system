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34840" y="45720"/>
            <a:ext cx="3337560" cy="34747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2000" b="1">
                <a:solidFill>
                  <a:srgbClr val="111111"/>
                </a:solidFill>
                <a:latin typeface="Microsoft YaHei"/>
              </a:rPr>
              <a:t>阶段 I：离线初始化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" y="393192"/>
            <a:ext cx="3502152" cy="438912"/>
          </a:xfrm>
          <a:prstGeom prst="rect">
            <a:avLst/>
          </a:prstGeom>
          <a:solidFill>
            <a:srgbClr val="FFFFFF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" y="429768"/>
            <a:ext cx="3502152" cy="329184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111111"/>
                </a:solidFill>
                <a:latin typeface="Microsoft YaHei"/>
              </a:rPr>
              <a:t>私有知识库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329184"/>
            <a:ext cx="5148072" cy="566928"/>
          </a:xfrm>
          <a:prstGeom prst="roundRect">
            <a:avLst/>
          </a:prstGeom>
          <a:solidFill>
            <a:srgbClr val="E4E4E4"/>
          </a:solidFill>
          <a:ln w="1397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39312" y="411480"/>
            <a:ext cx="4901184" cy="36576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111111"/>
                </a:solidFill>
                <a:latin typeface="Microsoft YaHei"/>
              </a:rPr>
              <a:t>加载嵌入模型并生成共享 JL 投影矩阵 R</a:t>
            </a:r>
          </a:p>
        </p:txBody>
      </p:sp>
      <p:sp>
        <p:nvSpPr>
          <p:cNvPr id="7" name="Rectangle 6"/>
          <p:cNvSpPr/>
          <p:nvPr/>
        </p:nvSpPr>
        <p:spPr>
          <a:xfrm>
            <a:off x="8668512" y="393192"/>
            <a:ext cx="3502152" cy="438912"/>
          </a:xfrm>
          <a:prstGeom prst="rect">
            <a:avLst/>
          </a:prstGeom>
          <a:solidFill>
            <a:srgbClr val="FFFFFF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68512" y="429768"/>
            <a:ext cx="3502152" cy="329184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111111"/>
                </a:solidFill>
                <a:latin typeface="Microsoft YaHei"/>
              </a:rPr>
              <a:t>本地 RAG 服务端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896112"/>
            <a:ext cx="3657600" cy="34747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2000" b="1">
                <a:solidFill>
                  <a:srgbClr val="111111"/>
                </a:solidFill>
                <a:latin typeface="Microsoft YaHei"/>
              </a:rPr>
              <a:t>阶段 II：隐私知识库构建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" y="1261872"/>
            <a:ext cx="4800600" cy="3822191"/>
          </a:xfrm>
          <a:prstGeom prst="rect">
            <a:avLst/>
          </a:prstGeom>
          <a:solidFill>
            <a:srgbClr val="DDECF8"/>
          </a:solidFill>
          <a:ln>
            <a:solidFill>
              <a:srgbClr val="DD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18888" y="1261872"/>
            <a:ext cx="7351775" cy="3822191"/>
          </a:xfrm>
          <a:prstGeom prst="rect">
            <a:avLst/>
          </a:prstGeom>
          <a:solidFill>
            <a:srgbClr val="E7F2DD"/>
          </a:solidFill>
          <a:ln>
            <a:solidFill>
              <a:srgbClr val="E7F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" y="5084064"/>
            <a:ext cx="12152376" cy="1746504"/>
          </a:xfrm>
          <a:prstGeom prst="rect">
            <a:avLst/>
          </a:prstGeom>
          <a:solidFill>
            <a:srgbClr val="EDE1F5"/>
          </a:solidFill>
          <a:ln>
            <a:solidFill>
              <a:srgbClr val="E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35024"/>
            <a:ext cx="3749039" cy="34747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800" b="1">
                <a:solidFill>
                  <a:srgbClr val="305A85"/>
                </a:solidFill>
                <a:latin typeface="Microsoft YaHei"/>
              </a:rPr>
              <a:t>1. 文档分块与隐私敏感度感知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335024"/>
            <a:ext cx="4251960" cy="34747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800" b="1">
                <a:solidFill>
                  <a:srgbClr val="56863C"/>
                </a:solidFill>
                <a:latin typeface="Microsoft YaHei"/>
              </a:rPr>
              <a:t>2. 敏感度驱动的动态差分隐私表征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791" y="5129784"/>
            <a:ext cx="4206240" cy="34747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800" b="1">
                <a:solidFill>
                  <a:srgbClr val="764893"/>
                </a:solidFill>
                <a:latin typeface="Microsoft YaHei"/>
              </a:rPr>
              <a:t>3. 在线隐私检索与本地生成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" y="1737360"/>
            <a:ext cx="4233672" cy="3108960"/>
          </a:xfrm>
          <a:prstGeom prst="rect">
            <a:avLst/>
          </a:prstGeom>
          <a:solidFill>
            <a:srgbClr val="F4FAFE"/>
          </a:solidFill>
          <a:ln w="279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4064" y="1737360"/>
            <a:ext cx="4087368" cy="3108960"/>
          </a:xfrm>
          <a:prstGeom prst="rect">
            <a:avLst/>
          </a:prstGeom>
          <a:solidFill>
            <a:srgbClr val="F7FBF2"/>
          </a:solidFill>
          <a:ln w="279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45168" y="1737360"/>
            <a:ext cx="2542032" cy="3108960"/>
          </a:xfrm>
          <a:prstGeom prst="rect">
            <a:avLst/>
          </a:prstGeom>
          <a:solidFill>
            <a:srgbClr val="F7FBF2"/>
          </a:solidFill>
          <a:ln w="279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01952" y="1783080"/>
            <a:ext cx="1024128" cy="29260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600" b="1">
                <a:solidFill>
                  <a:srgbClr val="111111"/>
                </a:solidFill>
                <a:latin typeface="Microsoft YaHei"/>
              </a:rPr>
              <a:t>文档侧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176272"/>
            <a:ext cx="347472" cy="457200"/>
          </a:xfrm>
          <a:prstGeom prst="rect">
            <a:avLst/>
          </a:prstGeom>
          <a:solidFill>
            <a:srgbClr val="FFFFFF"/>
          </a:solidFill>
          <a:ln w="16510">
            <a:solidFill>
              <a:srgbClr val="305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olded Corner 20"/>
          <p:cNvSpPr/>
          <p:nvPr/>
        </p:nvSpPr>
        <p:spPr>
          <a:xfrm>
            <a:off x="667512" y="2121408"/>
            <a:ext cx="347472" cy="457200"/>
          </a:xfrm>
          <a:prstGeom prst="foldedCorner">
            <a:avLst/>
          </a:prstGeom>
          <a:solidFill>
            <a:srgbClr val="FFFFFF"/>
          </a:solidFill>
          <a:ln w="16510">
            <a:solidFill>
              <a:srgbClr val="305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31520" y="2267712"/>
            <a:ext cx="201168" cy="0"/>
          </a:xfrm>
          <a:prstGeom prst="line">
            <a:avLst/>
          </a:prstGeom>
          <a:ln w="10160">
            <a:solidFill>
              <a:srgbClr val="305A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1520" y="2359152"/>
            <a:ext cx="201168" cy="0"/>
          </a:xfrm>
          <a:prstGeom prst="line">
            <a:avLst/>
          </a:prstGeom>
          <a:ln w="10160">
            <a:solidFill>
              <a:srgbClr val="305A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1520" y="2450592"/>
            <a:ext cx="201168" cy="0"/>
          </a:xfrm>
          <a:prstGeom prst="line">
            <a:avLst/>
          </a:prstGeom>
          <a:ln w="10160">
            <a:solidFill>
              <a:srgbClr val="305A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29768" y="2660904"/>
            <a:ext cx="1024128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Microsoft YaHei"/>
              </a:rPr>
              <a:t>多格式文档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53312" y="2395728"/>
            <a:ext cx="493776" cy="0"/>
          </a:xfrm>
          <a:prstGeom prst="line">
            <a:avLst/>
          </a:prstGeom>
          <a:ln w="21590">
            <a:solidFill>
              <a:srgbClr val="397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901952" y="2167128"/>
            <a:ext cx="155448" cy="155448"/>
          </a:xfrm>
          <a:prstGeom prst="rect">
            <a:avLst/>
          </a:prstGeom>
          <a:solidFill>
            <a:srgbClr val="D95B9D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57400" y="2167128"/>
            <a:ext cx="155448" cy="155448"/>
          </a:xfrm>
          <a:prstGeom prst="rect">
            <a:avLst/>
          </a:prstGeom>
          <a:solidFill>
            <a:srgbClr val="D8E1E8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12848" y="2167128"/>
            <a:ext cx="155448" cy="155448"/>
          </a:xfrm>
          <a:prstGeom prst="rect">
            <a:avLst/>
          </a:prstGeom>
          <a:solidFill>
            <a:srgbClr val="5DB7C4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68296" y="2167128"/>
            <a:ext cx="155448" cy="155448"/>
          </a:xfrm>
          <a:prstGeom prst="rect">
            <a:avLst/>
          </a:prstGeom>
          <a:solidFill>
            <a:srgbClr val="D8E1E8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23744" y="2167128"/>
            <a:ext cx="155448" cy="155448"/>
          </a:xfrm>
          <a:prstGeom prst="rect">
            <a:avLst/>
          </a:prstGeom>
          <a:solidFill>
            <a:srgbClr val="D95B9D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01952" y="2322576"/>
            <a:ext cx="155448" cy="155448"/>
          </a:xfrm>
          <a:prstGeom prst="rect">
            <a:avLst/>
          </a:prstGeom>
          <a:solidFill>
            <a:srgbClr val="D8E1E8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057400" y="2322576"/>
            <a:ext cx="155448" cy="155448"/>
          </a:xfrm>
          <a:prstGeom prst="rect">
            <a:avLst/>
          </a:prstGeom>
          <a:solidFill>
            <a:srgbClr val="5DB7C4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12848" y="2322576"/>
            <a:ext cx="155448" cy="155448"/>
          </a:xfrm>
          <a:prstGeom prst="rect">
            <a:avLst/>
          </a:prstGeom>
          <a:solidFill>
            <a:srgbClr val="D8E1E8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68296" y="2322576"/>
            <a:ext cx="155448" cy="155448"/>
          </a:xfrm>
          <a:prstGeom prst="rect">
            <a:avLst/>
          </a:prstGeom>
          <a:solidFill>
            <a:srgbClr val="D95B9D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23744" y="2322576"/>
            <a:ext cx="155448" cy="155448"/>
          </a:xfrm>
          <a:prstGeom prst="rect">
            <a:avLst/>
          </a:prstGeom>
          <a:solidFill>
            <a:srgbClr val="D8E1E8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901952" y="2478024"/>
            <a:ext cx="155448" cy="155448"/>
          </a:xfrm>
          <a:prstGeom prst="rect">
            <a:avLst/>
          </a:prstGeom>
          <a:solidFill>
            <a:srgbClr val="5DB7C4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057400" y="2478024"/>
            <a:ext cx="155448" cy="155448"/>
          </a:xfrm>
          <a:prstGeom prst="rect">
            <a:avLst/>
          </a:prstGeom>
          <a:solidFill>
            <a:srgbClr val="D8E1E8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12848" y="2478024"/>
            <a:ext cx="155448" cy="155448"/>
          </a:xfrm>
          <a:prstGeom prst="rect">
            <a:avLst/>
          </a:prstGeom>
          <a:solidFill>
            <a:srgbClr val="D95B9D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68296" y="2478024"/>
            <a:ext cx="155448" cy="155448"/>
          </a:xfrm>
          <a:prstGeom prst="rect">
            <a:avLst/>
          </a:prstGeom>
          <a:solidFill>
            <a:srgbClr val="D8E1E8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23744" y="2478024"/>
            <a:ext cx="155448" cy="155448"/>
          </a:xfrm>
          <a:prstGeom prst="rect">
            <a:avLst/>
          </a:prstGeom>
          <a:solidFill>
            <a:srgbClr val="5DB7C4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64792" y="2688336"/>
            <a:ext cx="1124712" cy="32004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50" b="0">
                <a:solidFill>
                  <a:srgbClr val="305A85"/>
                </a:solidFill>
                <a:latin typeface="Microsoft YaHei"/>
              </a:rPr>
              <a:t>1.1  重叠分块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679192" y="2468880"/>
            <a:ext cx="566928" cy="0"/>
          </a:xfrm>
          <a:prstGeom prst="line">
            <a:avLst/>
          </a:prstGeom>
          <a:ln w="21590">
            <a:solidFill>
              <a:srgbClr val="397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3273552" y="2112264"/>
            <a:ext cx="786384" cy="713232"/>
          </a:xfrm>
          <a:prstGeom prst="roundRect">
            <a:avLst/>
          </a:prstGeom>
          <a:solidFill>
            <a:srgbClr val="CCD9EA"/>
          </a:solidFill>
          <a:ln w="15240">
            <a:solidFill>
              <a:srgbClr val="809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entagon 44"/>
          <p:cNvSpPr/>
          <p:nvPr/>
        </p:nvSpPr>
        <p:spPr>
          <a:xfrm rot="10800000">
            <a:off x="3410712" y="2185416"/>
            <a:ext cx="493776" cy="530352"/>
          </a:xfrm>
          <a:prstGeom prst="homePlate">
            <a:avLst/>
          </a:prstGeom>
          <a:solidFill>
            <a:srgbClr val="FBEAE7"/>
          </a:solidFill>
          <a:ln w="19050">
            <a:solidFill>
              <a:srgbClr val="305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10712" y="2203704"/>
            <a:ext cx="493776" cy="4114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800" b="1">
                <a:solidFill>
                  <a:srgbClr val="305A85"/>
                </a:solidFill>
                <a:latin typeface="Microsoft YaHei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00984" y="2871216"/>
            <a:ext cx="749808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Microsoft YaHei"/>
              </a:rPr>
              <a:t>混合评估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3273552"/>
            <a:ext cx="94183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AB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3273552"/>
            <a:ext cx="941832" cy="34747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Microsoft YaHei"/>
              </a:rPr>
              <a:t>正则匹配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627632" y="3273552"/>
            <a:ext cx="94183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AB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27632" y="3273552"/>
            <a:ext cx="941832" cy="34747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Microsoft YaHei"/>
              </a:rPr>
              <a:t>关键词规则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88336" y="3273552"/>
            <a:ext cx="126187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AB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88336" y="3273552"/>
            <a:ext cx="1261872" cy="34747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111111"/>
                </a:solidFill>
                <a:latin typeface="Microsoft YaHei"/>
              </a:rPr>
              <a:t>零样本语义分类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1033271" y="2834640"/>
            <a:ext cx="2542033" cy="429768"/>
          </a:xfrm>
          <a:prstGeom prst="line">
            <a:avLst/>
          </a:prstGeom>
          <a:ln w="13970">
            <a:solidFill>
              <a:srgbClr val="397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093976" y="2834640"/>
            <a:ext cx="1481328" cy="429768"/>
          </a:xfrm>
          <a:prstGeom prst="line">
            <a:avLst/>
          </a:prstGeom>
          <a:ln w="13970">
            <a:solidFill>
              <a:srgbClr val="397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319272" y="2834640"/>
            <a:ext cx="256032" cy="429768"/>
          </a:xfrm>
          <a:prstGeom prst="line">
            <a:avLst/>
          </a:prstGeom>
          <a:ln w="13970">
            <a:solidFill>
              <a:srgbClr val="397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60120" y="3767328"/>
            <a:ext cx="2971800" cy="32004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50" b="0">
                <a:solidFill>
                  <a:srgbClr val="305A85"/>
                </a:solidFill>
                <a:latin typeface="Microsoft YaHei"/>
              </a:rPr>
              <a:t>1.2  融合规则分数与语义分数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575304" y="3108960"/>
            <a:ext cx="0" cy="868679"/>
          </a:xfrm>
          <a:prstGeom prst="line">
            <a:avLst/>
          </a:prstGeom>
          <a:ln w="21590">
            <a:solidFill>
              <a:srgbClr val="397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2670048" y="4096512"/>
            <a:ext cx="42976" cy="182880"/>
          </a:xfrm>
          <a:prstGeom prst="rect">
            <a:avLst/>
          </a:prstGeom>
          <a:solidFill>
            <a:srgbClr val="FFFFFF"/>
          </a:solidFill>
          <a:ln w="8255">
            <a:solidFill>
              <a:srgbClr val="D9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20340" y="4096512"/>
            <a:ext cx="42976" cy="182880"/>
          </a:xfrm>
          <a:prstGeom prst="rect">
            <a:avLst/>
          </a:prstGeom>
          <a:solidFill>
            <a:srgbClr val="FFFFFF"/>
          </a:solidFill>
          <a:ln w="8255">
            <a:solidFill>
              <a:srgbClr val="D9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770632" y="4096512"/>
            <a:ext cx="42976" cy="182880"/>
          </a:xfrm>
          <a:prstGeom prst="rect">
            <a:avLst/>
          </a:prstGeom>
          <a:solidFill>
            <a:srgbClr val="FFFFFF"/>
          </a:solidFill>
          <a:ln w="8255">
            <a:solidFill>
              <a:srgbClr val="D9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820924" y="4096512"/>
            <a:ext cx="42976" cy="182880"/>
          </a:xfrm>
          <a:prstGeom prst="rect">
            <a:avLst/>
          </a:prstGeom>
          <a:solidFill>
            <a:srgbClr val="FFFFFF"/>
          </a:solidFill>
          <a:ln w="8255">
            <a:solidFill>
              <a:srgbClr val="D9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871216" y="4096512"/>
            <a:ext cx="42976" cy="182880"/>
          </a:xfrm>
          <a:prstGeom prst="rect">
            <a:avLst/>
          </a:prstGeom>
          <a:solidFill>
            <a:srgbClr val="FFFFFF"/>
          </a:solidFill>
          <a:ln w="8255">
            <a:solidFill>
              <a:srgbClr val="D9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921508" y="4096512"/>
            <a:ext cx="42976" cy="182880"/>
          </a:xfrm>
          <a:prstGeom prst="rect">
            <a:avLst/>
          </a:prstGeom>
          <a:solidFill>
            <a:srgbClr val="FFFFFF"/>
          </a:solidFill>
          <a:ln w="8255">
            <a:solidFill>
              <a:srgbClr val="D9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971800" y="4096512"/>
            <a:ext cx="42976" cy="182880"/>
          </a:xfrm>
          <a:prstGeom prst="rect">
            <a:avLst/>
          </a:prstGeom>
          <a:solidFill>
            <a:srgbClr val="FFFFFF"/>
          </a:solidFill>
          <a:ln w="8255">
            <a:solidFill>
              <a:srgbClr val="D9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022091" y="4096512"/>
            <a:ext cx="42976" cy="182880"/>
          </a:xfrm>
          <a:prstGeom prst="rect">
            <a:avLst/>
          </a:prstGeom>
          <a:solidFill>
            <a:srgbClr val="FFFFFF"/>
          </a:solidFill>
          <a:ln w="8255">
            <a:solidFill>
              <a:srgbClr val="D9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072384" y="4096512"/>
            <a:ext cx="42976" cy="182880"/>
          </a:xfrm>
          <a:prstGeom prst="rect">
            <a:avLst/>
          </a:prstGeom>
          <a:solidFill>
            <a:srgbClr val="FFFFFF"/>
          </a:solidFill>
          <a:ln w="8255">
            <a:solidFill>
              <a:srgbClr val="D9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122676" y="4096512"/>
            <a:ext cx="42976" cy="182880"/>
          </a:xfrm>
          <a:prstGeom prst="rect">
            <a:avLst/>
          </a:prstGeom>
          <a:solidFill>
            <a:srgbClr val="FFFFFF"/>
          </a:solidFill>
          <a:ln w="8255">
            <a:solidFill>
              <a:srgbClr val="D9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172968" y="4096512"/>
            <a:ext cx="42976" cy="182880"/>
          </a:xfrm>
          <a:prstGeom prst="rect">
            <a:avLst/>
          </a:prstGeom>
          <a:solidFill>
            <a:srgbClr val="FFFFFF"/>
          </a:solidFill>
          <a:ln w="8255">
            <a:solidFill>
              <a:srgbClr val="D9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223260" y="4096512"/>
            <a:ext cx="42976" cy="182880"/>
          </a:xfrm>
          <a:prstGeom prst="rect">
            <a:avLst/>
          </a:prstGeom>
          <a:solidFill>
            <a:srgbClr val="FFFFFF"/>
          </a:solidFill>
          <a:ln w="8255">
            <a:solidFill>
              <a:srgbClr val="D9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273552" y="4096512"/>
            <a:ext cx="42976" cy="182880"/>
          </a:xfrm>
          <a:prstGeom prst="rect">
            <a:avLst/>
          </a:prstGeom>
          <a:solidFill>
            <a:srgbClr val="FFFFFF"/>
          </a:solidFill>
          <a:ln w="8255">
            <a:solidFill>
              <a:srgbClr val="D9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323844" y="4096512"/>
            <a:ext cx="42976" cy="182880"/>
          </a:xfrm>
          <a:prstGeom prst="rect">
            <a:avLst/>
          </a:prstGeom>
          <a:solidFill>
            <a:srgbClr val="FFFFFF"/>
          </a:solidFill>
          <a:ln w="8255">
            <a:solidFill>
              <a:srgbClr val="D9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374136" y="4096512"/>
            <a:ext cx="42976" cy="182880"/>
          </a:xfrm>
          <a:prstGeom prst="rect">
            <a:avLst/>
          </a:prstGeom>
          <a:solidFill>
            <a:srgbClr val="FFFFFF"/>
          </a:solidFill>
          <a:ln w="8255">
            <a:solidFill>
              <a:srgbClr val="D9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33572" y="4059936"/>
            <a:ext cx="201168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Microsoft YaHei"/>
              </a:rPr>
              <a:t>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06624" y="4352544"/>
            <a:ext cx="1234440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D95B9D"/>
                </a:solidFill>
                <a:latin typeface="Microsoft YaHei"/>
              </a:rPr>
              <a:t>s₁  s₂  …  sₙ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2688" y="4453128"/>
            <a:ext cx="1691640" cy="32004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50" b="0">
                <a:solidFill>
                  <a:srgbClr val="305A85"/>
                </a:solidFill>
                <a:latin typeface="Microsoft YaHei"/>
              </a:rPr>
              <a:t>1.3  输出分块级敏感度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27648" y="1783080"/>
            <a:ext cx="1627632" cy="29260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600" b="1">
                <a:solidFill>
                  <a:srgbClr val="111111"/>
                </a:solidFill>
                <a:latin typeface="Microsoft YaHei"/>
              </a:rPr>
              <a:t>隐私表征引擎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49240" y="2194560"/>
            <a:ext cx="146304" cy="146304"/>
          </a:xfrm>
          <a:prstGeom prst="rect">
            <a:avLst/>
          </a:prstGeom>
          <a:solidFill>
            <a:srgbClr val="D95B9D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495544" y="2194560"/>
            <a:ext cx="146304" cy="146304"/>
          </a:xfrm>
          <a:prstGeom prst="rect">
            <a:avLst/>
          </a:prstGeom>
          <a:solidFill>
            <a:srgbClr val="D9DEE2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641848" y="2194560"/>
            <a:ext cx="146304" cy="146304"/>
          </a:xfrm>
          <a:prstGeom prst="rect">
            <a:avLst/>
          </a:prstGeom>
          <a:solidFill>
            <a:srgbClr val="5DB7C4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788152" y="2194560"/>
            <a:ext cx="146304" cy="146304"/>
          </a:xfrm>
          <a:prstGeom prst="rect">
            <a:avLst/>
          </a:prstGeom>
          <a:solidFill>
            <a:srgbClr val="D9DEE2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934455" y="2194560"/>
            <a:ext cx="146304" cy="146304"/>
          </a:xfrm>
          <a:prstGeom prst="rect">
            <a:avLst/>
          </a:prstGeom>
          <a:solidFill>
            <a:srgbClr val="D95B9D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349240" y="2340864"/>
            <a:ext cx="146304" cy="146304"/>
          </a:xfrm>
          <a:prstGeom prst="rect">
            <a:avLst/>
          </a:prstGeom>
          <a:solidFill>
            <a:srgbClr val="D9DEE2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495544" y="2340864"/>
            <a:ext cx="146304" cy="146304"/>
          </a:xfrm>
          <a:prstGeom prst="rect">
            <a:avLst/>
          </a:prstGeom>
          <a:solidFill>
            <a:srgbClr val="5DB7C4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641848" y="2340864"/>
            <a:ext cx="146304" cy="146304"/>
          </a:xfrm>
          <a:prstGeom prst="rect">
            <a:avLst/>
          </a:prstGeom>
          <a:solidFill>
            <a:srgbClr val="D9DEE2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788152" y="2340864"/>
            <a:ext cx="146304" cy="146304"/>
          </a:xfrm>
          <a:prstGeom prst="rect">
            <a:avLst/>
          </a:prstGeom>
          <a:solidFill>
            <a:srgbClr val="D95B9D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934455" y="2340864"/>
            <a:ext cx="146304" cy="146304"/>
          </a:xfrm>
          <a:prstGeom prst="rect">
            <a:avLst/>
          </a:prstGeom>
          <a:solidFill>
            <a:srgbClr val="D9DEE2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349240" y="2487168"/>
            <a:ext cx="146304" cy="146304"/>
          </a:xfrm>
          <a:prstGeom prst="rect">
            <a:avLst/>
          </a:prstGeom>
          <a:solidFill>
            <a:srgbClr val="5DB7C4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495544" y="2487168"/>
            <a:ext cx="146304" cy="146304"/>
          </a:xfrm>
          <a:prstGeom prst="rect">
            <a:avLst/>
          </a:prstGeom>
          <a:solidFill>
            <a:srgbClr val="D9DEE2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641848" y="2487168"/>
            <a:ext cx="146304" cy="146304"/>
          </a:xfrm>
          <a:prstGeom prst="rect">
            <a:avLst/>
          </a:prstGeom>
          <a:solidFill>
            <a:srgbClr val="D95B9D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788152" y="2487168"/>
            <a:ext cx="146304" cy="146304"/>
          </a:xfrm>
          <a:prstGeom prst="rect">
            <a:avLst/>
          </a:prstGeom>
          <a:solidFill>
            <a:srgbClr val="D9DEE2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934455" y="2487168"/>
            <a:ext cx="146304" cy="146304"/>
          </a:xfrm>
          <a:prstGeom prst="rect">
            <a:avLst/>
          </a:prstGeom>
          <a:solidFill>
            <a:srgbClr val="5DB7C4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230368" y="2688336"/>
            <a:ext cx="1078992" cy="21945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Microsoft YaHei"/>
              </a:rPr>
              <a:t>原始嵌入 xᵢ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6126480" y="2432304"/>
            <a:ext cx="502920" cy="0"/>
          </a:xfrm>
          <a:prstGeom prst="line">
            <a:avLst/>
          </a:prstGeom>
          <a:ln w="21590">
            <a:solidFill>
              <a:srgbClr val="397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6675120" y="2112264"/>
            <a:ext cx="1024128" cy="658368"/>
          </a:xfrm>
          <a:prstGeom prst="roundRect">
            <a:avLst/>
          </a:prstGeom>
          <a:solidFill>
            <a:srgbClr val="D8E4F2"/>
          </a:solidFill>
          <a:ln w="13970">
            <a:solidFill>
              <a:srgbClr val="819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675120" y="2148840"/>
            <a:ext cx="1024128" cy="53035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Microsoft YaHei"/>
              </a:rPr>
              <a:t>L2 归一化
JL 投影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7699248" y="2432304"/>
            <a:ext cx="585216" cy="0"/>
          </a:xfrm>
          <a:prstGeom prst="line">
            <a:avLst/>
          </a:prstGeom>
          <a:ln w="21590">
            <a:solidFill>
              <a:srgbClr val="397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8339327" y="2240280"/>
            <a:ext cx="146304" cy="146304"/>
          </a:xfrm>
          <a:prstGeom prst="rect">
            <a:avLst/>
          </a:prstGeom>
          <a:solidFill>
            <a:srgbClr val="5DB7C4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85632" y="2240280"/>
            <a:ext cx="146304" cy="146304"/>
          </a:xfrm>
          <a:prstGeom prst="rect">
            <a:avLst/>
          </a:prstGeom>
          <a:solidFill>
            <a:srgbClr val="D9DEE2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31936" y="2240280"/>
            <a:ext cx="146304" cy="146304"/>
          </a:xfrm>
          <a:prstGeom prst="rect">
            <a:avLst/>
          </a:prstGeom>
          <a:solidFill>
            <a:srgbClr val="D95B9D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0" y="2240280"/>
            <a:ext cx="146304" cy="146304"/>
          </a:xfrm>
          <a:prstGeom prst="rect">
            <a:avLst/>
          </a:prstGeom>
          <a:solidFill>
            <a:srgbClr val="D9DEE2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339327" y="2386584"/>
            <a:ext cx="146304" cy="146304"/>
          </a:xfrm>
          <a:prstGeom prst="rect">
            <a:avLst/>
          </a:prstGeom>
          <a:solidFill>
            <a:srgbClr val="5DB7C4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485632" y="2386584"/>
            <a:ext cx="146304" cy="146304"/>
          </a:xfrm>
          <a:prstGeom prst="rect">
            <a:avLst/>
          </a:prstGeom>
          <a:solidFill>
            <a:srgbClr val="D9DEE2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631936" y="2386584"/>
            <a:ext cx="146304" cy="146304"/>
          </a:xfrm>
          <a:prstGeom prst="rect">
            <a:avLst/>
          </a:prstGeom>
          <a:solidFill>
            <a:srgbClr val="D95B9D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778240" y="2386584"/>
            <a:ext cx="146304" cy="146304"/>
          </a:xfrm>
          <a:prstGeom prst="rect">
            <a:avLst/>
          </a:prstGeom>
          <a:solidFill>
            <a:srgbClr val="D9DEE2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147304" y="2679192"/>
            <a:ext cx="932688" cy="21945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Microsoft YaHei"/>
              </a:rPr>
              <a:t>低维向量 yᵢ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23560" y="2953512"/>
            <a:ext cx="3063240" cy="32004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50" b="0">
                <a:solidFill>
                  <a:srgbClr val="56863C"/>
                </a:solidFill>
                <a:latin typeface="Microsoft YaHei"/>
              </a:rPr>
              <a:t>2.1  共享表征：yᵢ = norm(xᵢR)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330952" y="3374136"/>
            <a:ext cx="1344168" cy="731520"/>
          </a:xfrm>
          <a:prstGeom prst="roundRect">
            <a:avLst/>
          </a:prstGeom>
          <a:solidFill>
            <a:srgbClr val="F5D7DD"/>
          </a:solidFill>
          <a:ln w="13970">
            <a:solidFill>
              <a:srgbClr val="C87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330952" y="3429000"/>
            <a:ext cx="1344168" cy="56692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Microsoft YaHei"/>
              </a:rPr>
              <a:t>动态预算
εᵢ ↓  Δᵢ ↑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6675120" y="3730752"/>
            <a:ext cx="438912" cy="0"/>
          </a:xfrm>
          <a:prstGeom prst="line">
            <a:avLst/>
          </a:prstGeom>
          <a:ln w="21590">
            <a:solidFill>
              <a:srgbClr val="5686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110"/>
          <p:cNvSpPr/>
          <p:nvPr/>
        </p:nvSpPr>
        <p:spPr>
          <a:xfrm>
            <a:off x="7150608" y="3310128"/>
            <a:ext cx="1572768" cy="859536"/>
          </a:xfrm>
          <a:prstGeom prst="roundRect">
            <a:avLst/>
          </a:prstGeom>
          <a:solidFill>
            <a:srgbClr val="E6E6E6"/>
          </a:solidFill>
          <a:ln w="1397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150608" y="3383280"/>
            <a:ext cx="1572768" cy="56692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Microsoft YaHei"/>
              </a:rPr>
              <a:t>解析高斯校准
σᵢ = u*Δᵢ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8723376" y="3730752"/>
            <a:ext cx="338328" cy="0"/>
          </a:xfrm>
          <a:prstGeom prst="line">
            <a:avLst/>
          </a:prstGeom>
          <a:ln w="21590">
            <a:solidFill>
              <a:srgbClr val="5686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388352" y="4645152"/>
            <a:ext cx="228600" cy="36576"/>
          </a:xfrm>
          <a:prstGeom prst="line">
            <a:avLst/>
          </a:prstGeom>
          <a:ln w="19050">
            <a:solidFill>
              <a:srgbClr val="397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7616952" y="4471416"/>
            <a:ext cx="182879" cy="173736"/>
          </a:xfrm>
          <a:prstGeom prst="line">
            <a:avLst/>
          </a:prstGeom>
          <a:ln w="19050">
            <a:solidFill>
              <a:srgbClr val="397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7799831" y="4297680"/>
            <a:ext cx="109729" cy="173736"/>
          </a:xfrm>
          <a:prstGeom prst="line">
            <a:avLst/>
          </a:prstGeom>
          <a:ln w="19050">
            <a:solidFill>
              <a:srgbClr val="397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909560" y="4297680"/>
            <a:ext cx="109728" cy="173736"/>
          </a:xfrm>
          <a:prstGeom prst="line">
            <a:avLst/>
          </a:prstGeom>
          <a:ln w="19050">
            <a:solidFill>
              <a:srgbClr val="397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8019288" y="4471416"/>
            <a:ext cx="192024" cy="173736"/>
          </a:xfrm>
          <a:prstGeom prst="line">
            <a:avLst/>
          </a:prstGeom>
          <a:ln w="19050">
            <a:solidFill>
              <a:srgbClr val="397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8211312" y="4645152"/>
            <a:ext cx="228600" cy="36576"/>
          </a:xfrm>
          <a:prstGeom prst="line">
            <a:avLst/>
          </a:prstGeom>
          <a:ln w="19050">
            <a:solidFill>
              <a:srgbClr val="397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7571231" y="4608576"/>
            <a:ext cx="164592" cy="73152"/>
          </a:xfrm>
          <a:prstGeom prst="line">
            <a:avLst/>
          </a:prstGeom>
          <a:ln w="19050">
            <a:solidFill>
              <a:srgbClr val="D95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7735823" y="4480560"/>
            <a:ext cx="173736" cy="128016"/>
          </a:xfrm>
          <a:prstGeom prst="line">
            <a:avLst/>
          </a:prstGeom>
          <a:ln w="19050">
            <a:solidFill>
              <a:srgbClr val="D95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909559" y="4370832"/>
            <a:ext cx="192024" cy="109728"/>
          </a:xfrm>
          <a:prstGeom prst="line">
            <a:avLst/>
          </a:prstGeom>
          <a:ln w="19050">
            <a:solidFill>
              <a:srgbClr val="D95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101583" y="4370832"/>
            <a:ext cx="182880" cy="109728"/>
          </a:xfrm>
          <a:prstGeom prst="line">
            <a:avLst/>
          </a:prstGeom>
          <a:ln w="19050">
            <a:solidFill>
              <a:srgbClr val="D95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284463" y="4480560"/>
            <a:ext cx="173737" cy="128016"/>
          </a:xfrm>
          <a:prstGeom prst="line">
            <a:avLst/>
          </a:prstGeom>
          <a:ln w="19050">
            <a:solidFill>
              <a:srgbClr val="D95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458200" y="4608576"/>
            <a:ext cx="164592" cy="73152"/>
          </a:xfrm>
          <a:prstGeom prst="line">
            <a:avLst/>
          </a:prstGeom>
          <a:ln w="19050">
            <a:solidFill>
              <a:srgbClr val="D95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5504688" y="4315968"/>
            <a:ext cx="1783080" cy="25603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Microsoft YaHei"/>
              </a:rPr>
              <a:t>zᵢ ~ 𝒩(0,(σᵢα/√m)²I)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669280" y="4572000"/>
            <a:ext cx="3063240" cy="32004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50" b="0">
                <a:solidFill>
                  <a:srgbClr val="56863C"/>
                </a:solidFill>
                <a:latin typeface="Microsoft YaHei"/>
              </a:rPr>
              <a:t>2.2  高敏感 → 小 εᵢ → 强噪声</a:t>
            </a:r>
          </a:p>
        </p:txBody>
      </p:sp>
      <p:cxnSp>
        <p:nvCxnSpPr>
          <p:cNvPr id="128" name="Connector 127"/>
          <p:cNvCxnSpPr/>
          <p:nvPr/>
        </p:nvCxnSpPr>
        <p:spPr>
          <a:xfrm flipV="1">
            <a:off x="4078224" y="3794760"/>
            <a:ext cx="1207008" cy="429768"/>
          </a:xfrm>
          <a:prstGeom prst="line">
            <a:avLst/>
          </a:prstGeom>
          <a:ln w="22860">
            <a:solidFill>
              <a:srgbClr val="D95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10076688" y="1783080"/>
            <a:ext cx="1078992" cy="29260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600" b="1">
                <a:solidFill>
                  <a:srgbClr val="111111"/>
                </a:solidFill>
                <a:latin typeface="Microsoft YaHei"/>
              </a:rPr>
              <a:t>隐私索引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646920" y="2212848"/>
            <a:ext cx="146304" cy="146304"/>
          </a:xfrm>
          <a:prstGeom prst="rect">
            <a:avLst/>
          </a:prstGeom>
          <a:solidFill>
            <a:srgbClr val="D95B9D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793224" y="2212848"/>
            <a:ext cx="146304" cy="146304"/>
          </a:xfrm>
          <a:prstGeom prst="rect">
            <a:avLst/>
          </a:prstGeom>
          <a:solidFill>
            <a:srgbClr val="D9DEE2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939528" y="2212848"/>
            <a:ext cx="146304" cy="146304"/>
          </a:xfrm>
          <a:prstGeom prst="rect">
            <a:avLst/>
          </a:prstGeom>
          <a:solidFill>
            <a:srgbClr val="5DB7C4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085832" y="2212848"/>
            <a:ext cx="146304" cy="146304"/>
          </a:xfrm>
          <a:prstGeom prst="rect">
            <a:avLst/>
          </a:prstGeom>
          <a:solidFill>
            <a:srgbClr val="B9D692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232136" y="2212848"/>
            <a:ext cx="146304" cy="146304"/>
          </a:xfrm>
          <a:prstGeom prst="rect">
            <a:avLst/>
          </a:prstGeom>
          <a:solidFill>
            <a:srgbClr val="D95B9D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9646920" y="2359152"/>
            <a:ext cx="146304" cy="146304"/>
          </a:xfrm>
          <a:prstGeom prst="rect">
            <a:avLst/>
          </a:prstGeom>
          <a:solidFill>
            <a:srgbClr val="D95B9D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9793224" y="2359152"/>
            <a:ext cx="146304" cy="146304"/>
          </a:xfrm>
          <a:prstGeom prst="rect">
            <a:avLst/>
          </a:prstGeom>
          <a:solidFill>
            <a:srgbClr val="D9DEE2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939528" y="2359152"/>
            <a:ext cx="146304" cy="146304"/>
          </a:xfrm>
          <a:prstGeom prst="rect">
            <a:avLst/>
          </a:prstGeom>
          <a:solidFill>
            <a:srgbClr val="5DB7C4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0085832" y="2359152"/>
            <a:ext cx="146304" cy="146304"/>
          </a:xfrm>
          <a:prstGeom prst="rect">
            <a:avLst/>
          </a:prstGeom>
          <a:solidFill>
            <a:srgbClr val="B9D692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0232136" y="2359152"/>
            <a:ext cx="146304" cy="146304"/>
          </a:xfrm>
          <a:prstGeom prst="rect">
            <a:avLst/>
          </a:prstGeom>
          <a:solidFill>
            <a:srgbClr val="D95B9D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646920" y="2505456"/>
            <a:ext cx="146304" cy="146304"/>
          </a:xfrm>
          <a:prstGeom prst="rect">
            <a:avLst/>
          </a:prstGeom>
          <a:solidFill>
            <a:srgbClr val="D95B9D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793224" y="2505456"/>
            <a:ext cx="146304" cy="146304"/>
          </a:xfrm>
          <a:prstGeom prst="rect">
            <a:avLst/>
          </a:prstGeom>
          <a:solidFill>
            <a:srgbClr val="D9DEE2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939528" y="2505456"/>
            <a:ext cx="146304" cy="146304"/>
          </a:xfrm>
          <a:prstGeom prst="rect">
            <a:avLst/>
          </a:prstGeom>
          <a:solidFill>
            <a:srgbClr val="5DB7C4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0085832" y="2505456"/>
            <a:ext cx="146304" cy="146304"/>
          </a:xfrm>
          <a:prstGeom prst="rect">
            <a:avLst/>
          </a:prstGeom>
          <a:solidFill>
            <a:srgbClr val="B9D692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232136" y="2505456"/>
            <a:ext cx="146304" cy="146304"/>
          </a:xfrm>
          <a:prstGeom prst="rect">
            <a:avLst/>
          </a:prstGeom>
          <a:solidFill>
            <a:srgbClr val="D95B9D"/>
          </a:solidFill>
          <a:ln w="5715">
            <a:solidFill>
              <a:srgbClr val="9AA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573768" y="2724912"/>
            <a:ext cx="941832" cy="21945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Microsoft YaHei"/>
              </a:rPr>
              <a:t>扰动向量 ỹᵢ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10451592" y="2514600"/>
            <a:ext cx="0" cy="548640"/>
          </a:xfrm>
          <a:prstGeom prst="line">
            <a:avLst/>
          </a:prstGeom>
          <a:ln w="21590">
            <a:solidFill>
              <a:srgbClr val="5686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ounded Rectangle 146"/>
          <p:cNvSpPr/>
          <p:nvPr/>
        </p:nvSpPr>
        <p:spPr>
          <a:xfrm>
            <a:off x="9902952" y="3072384"/>
            <a:ext cx="111556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B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902952" y="3108960"/>
            <a:ext cx="1115568" cy="34747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Microsoft YaHei"/>
              </a:rPr>
              <a:t>最终归一化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10451592" y="3547872"/>
            <a:ext cx="0" cy="274319"/>
          </a:xfrm>
          <a:prstGeom prst="line">
            <a:avLst/>
          </a:prstGeom>
          <a:ln w="21590">
            <a:solidFill>
              <a:srgbClr val="5686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948672" y="3895344"/>
            <a:ext cx="292608" cy="237743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9948672" y="4133087"/>
            <a:ext cx="347472" cy="201169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0241280" y="3895344"/>
            <a:ext cx="347472" cy="164591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0296144" y="4059935"/>
            <a:ext cx="292608" cy="274321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0296144" y="4334256"/>
            <a:ext cx="338328" cy="36575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0588752" y="4059935"/>
            <a:ext cx="45720" cy="310896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Oval 155"/>
          <p:cNvSpPr/>
          <p:nvPr/>
        </p:nvSpPr>
        <p:spPr>
          <a:xfrm>
            <a:off x="9893808" y="4078224"/>
            <a:ext cx="118872" cy="118872"/>
          </a:xfrm>
          <a:prstGeom prst="ellipse">
            <a:avLst/>
          </a:prstGeom>
          <a:solidFill>
            <a:srgbClr val="E9F0FA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186416" y="3840480"/>
            <a:ext cx="118872" cy="118872"/>
          </a:xfrm>
          <a:prstGeom prst="ellipse">
            <a:avLst/>
          </a:prstGeom>
          <a:solidFill>
            <a:srgbClr val="E9F0FA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241280" y="4279392"/>
            <a:ext cx="118872" cy="118872"/>
          </a:xfrm>
          <a:prstGeom prst="ellipse">
            <a:avLst/>
          </a:prstGeom>
          <a:solidFill>
            <a:srgbClr val="1B8A89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533888" y="4005072"/>
            <a:ext cx="118872" cy="118872"/>
          </a:xfrm>
          <a:prstGeom prst="ellipse">
            <a:avLst/>
          </a:prstGeom>
          <a:solidFill>
            <a:srgbClr val="1B8A89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579608" y="4315968"/>
            <a:ext cx="118872" cy="118872"/>
          </a:xfrm>
          <a:prstGeom prst="ellipse">
            <a:avLst/>
          </a:prstGeom>
          <a:solidFill>
            <a:srgbClr val="E9F0FA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701784" y="4462272"/>
            <a:ext cx="1536192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56863C"/>
                </a:solidFill>
                <a:latin typeface="Microsoft YaHei"/>
              </a:rPr>
              <a:t>HNSW 图索引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573768" y="4590288"/>
            <a:ext cx="1764792" cy="32004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50" b="0">
                <a:solidFill>
                  <a:srgbClr val="56863C"/>
                </a:solidFill>
                <a:latin typeface="Microsoft YaHei"/>
              </a:rPr>
              <a:t>2.3  构建隐私向量库</a:t>
            </a:r>
          </a:p>
        </p:txBody>
      </p:sp>
      <p:cxnSp>
        <p:nvCxnSpPr>
          <p:cNvPr id="163" name="Connector 162"/>
          <p:cNvCxnSpPr/>
          <p:nvPr/>
        </p:nvCxnSpPr>
        <p:spPr>
          <a:xfrm flipV="1">
            <a:off x="9171432" y="2487168"/>
            <a:ext cx="429768" cy="1216152"/>
          </a:xfrm>
          <a:prstGeom prst="line">
            <a:avLst/>
          </a:prstGeom>
          <a:ln w="22860">
            <a:solidFill>
              <a:srgbClr val="5686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 163"/>
          <p:cNvSpPr/>
          <p:nvPr/>
        </p:nvSpPr>
        <p:spPr>
          <a:xfrm>
            <a:off x="310896" y="5522976"/>
            <a:ext cx="11558016" cy="1078992"/>
          </a:xfrm>
          <a:prstGeom prst="rect">
            <a:avLst/>
          </a:prstGeom>
          <a:solidFill>
            <a:srgbClr val="F8F1FC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566928" y="5769864"/>
            <a:ext cx="438912" cy="43891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64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66928" y="5769864"/>
            <a:ext cx="438912" cy="43891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764893"/>
                </a:solidFill>
                <a:latin typeface="Microsoft YaHei"/>
              </a:rPr>
              <a:t>问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78992" y="5806440"/>
            <a:ext cx="777240" cy="25603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Microsoft YaHei"/>
              </a:rPr>
              <a:t>用户查询 q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1901952" y="5998464"/>
            <a:ext cx="502920" cy="0"/>
          </a:xfrm>
          <a:prstGeom prst="line">
            <a:avLst/>
          </a:prstGeom>
          <a:ln w="21590">
            <a:solidFill>
              <a:srgbClr val="764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2487168" y="5760720"/>
            <a:ext cx="182880" cy="201168"/>
          </a:xfrm>
          <a:prstGeom prst="line">
            <a:avLst/>
          </a:prstGeom>
          <a:ln w="12700">
            <a:solidFill>
              <a:srgbClr val="305A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2487168" y="5961888"/>
            <a:ext cx="201168" cy="210312"/>
          </a:xfrm>
          <a:prstGeom prst="line">
            <a:avLst/>
          </a:prstGeom>
          <a:ln w="12700">
            <a:solidFill>
              <a:srgbClr val="305A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2670048" y="5760720"/>
            <a:ext cx="237744" cy="109728"/>
          </a:xfrm>
          <a:prstGeom prst="line">
            <a:avLst/>
          </a:prstGeom>
          <a:ln w="12700">
            <a:solidFill>
              <a:srgbClr val="305A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2688336" y="5870448"/>
            <a:ext cx="219456" cy="301752"/>
          </a:xfrm>
          <a:prstGeom prst="line">
            <a:avLst/>
          </a:prstGeom>
          <a:ln w="12700">
            <a:solidFill>
              <a:srgbClr val="305A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2688336" y="6144768"/>
            <a:ext cx="256032" cy="27432"/>
          </a:xfrm>
          <a:prstGeom prst="line">
            <a:avLst/>
          </a:prstGeom>
          <a:ln w="12700">
            <a:solidFill>
              <a:srgbClr val="305A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2907792" y="5870448"/>
            <a:ext cx="237744" cy="118872"/>
          </a:xfrm>
          <a:prstGeom prst="line">
            <a:avLst/>
          </a:prstGeom>
          <a:ln w="12700">
            <a:solidFill>
              <a:srgbClr val="305A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2944368" y="5989320"/>
            <a:ext cx="201168" cy="155448"/>
          </a:xfrm>
          <a:prstGeom prst="line">
            <a:avLst/>
          </a:prstGeom>
          <a:ln w="12700">
            <a:solidFill>
              <a:srgbClr val="305A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Oval 175"/>
          <p:cNvSpPr/>
          <p:nvPr/>
        </p:nvSpPr>
        <p:spPr>
          <a:xfrm>
            <a:off x="2436876" y="5911596"/>
            <a:ext cx="109728" cy="109728"/>
          </a:xfrm>
          <a:prstGeom prst="ellipse">
            <a:avLst/>
          </a:prstGeom>
          <a:solidFill>
            <a:srgbClr val="5DB7C4"/>
          </a:solidFill>
          <a:ln w="7620">
            <a:solidFill>
              <a:srgbClr val="305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2619756" y="5710428"/>
            <a:ext cx="109728" cy="109728"/>
          </a:xfrm>
          <a:prstGeom prst="ellipse">
            <a:avLst/>
          </a:prstGeom>
          <a:solidFill>
            <a:srgbClr val="D95B9D"/>
          </a:solidFill>
          <a:ln w="7620">
            <a:solidFill>
              <a:srgbClr val="305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2638044" y="6121908"/>
            <a:ext cx="109728" cy="109728"/>
          </a:xfrm>
          <a:prstGeom prst="ellipse">
            <a:avLst/>
          </a:prstGeom>
          <a:solidFill>
            <a:srgbClr val="5DB7C4"/>
          </a:solidFill>
          <a:ln w="7620">
            <a:solidFill>
              <a:srgbClr val="305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2857500" y="5820156"/>
            <a:ext cx="109728" cy="109728"/>
          </a:xfrm>
          <a:prstGeom prst="ellipse">
            <a:avLst/>
          </a:prstGeom>
          <a:solidFill>
            <a:srgbClr val="5DB7C4"/>
          </a:solidFill>
          <a:ln w="7620">
            <a:solidFill>
              <a:srgbClr val="305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2894076" y="6094476"/>
            <a:ext cx="109728" cy="109728"/>
          </a:xfrm>
          <a:prstGeom prst="ellipse">
            <a:avLst/>
          </a:prstGeom>
          <a:solidFill>
            <a:srgbClr val="D95B9D"/>
          </a:solidFill>
          <a:ln w="7620">
            <a:solidFill>
              <a:srgbClr val="305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3095244" y="5939028"/>
            <a:ext cx="109728" cy="109728"/>
          </a:xfrm>
          <a:prstGeom prst="ellipse">
            <a:avLst/>
          </a:prstGeom>
          <a:solidFill>
            <a:srgbClr val="5DB7C4"/>
          </a:solidFill>
          <a:ln w="7620">
            <a:solidFill>
              <a:srgbClr val="305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2350008" y="6254496"/>
            <a:ext cx="1051560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111111"/>
                </a:solidFill>
                <a:latin typeface="Microsoft YaHei"/>
              </a:rPr>
              <a:t>嵌入 + 同一 JL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3493008" y="5998464"/>
            <a:ext cx="530352" cy="0"/>
          </a:xfrm>
          <a:prstGeom prst="line">
            <a:avLst/>
          </a:prstGeom>
          <a:ln w="21590">
            <a:solidFill>
              <a:srgbClr val="764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4169663" y="5760720"/>
            <a:ext cx="292609" cy="237744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4169663" y="5998464"/>
            <a:ext cx="347473" cy="201167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4462272" y="5760720"/>
            <a:ext cx="347472" cy="164592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4517136" y="5925312"/>
            <a:ext cx="292608" cy="274319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4517136" y="6199631"/>
            <a:ext cx="338328" cy="36577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4809744" y="5925312"/>
            <a:ext cx="45720" cy="310896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4114800" y="5943600"/>
            <a:ext cx="118872" cy="118872"/>
          </a:xfrm>
          <a:prstGeom prst="ellipse">
            <a:avLst/>
          </a:prstGeom>
          <a:solidFill>
            <a:srgbClr val="E9F0FA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4407408" y="5705856"/>
            <a:ext cx="118872" cy="118872"/>
          </a:xfrm>
          <a:prstGeom prst="ellipse">
            <a:avLst/>
          </a:prstGeom>
          <a:solidFill>
            <a:srgbClr val="E9F0FA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462272" y="6144768"/>
            <a:ext cx="118872" cy="118872"/>
          </a:xfrm>
          <a:prstGeom prst="ellipse">
            <a:avLst/>
          </a:prstGeom>
          <a:solidFill>
            <a:srgbClr val="1B8A89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754880" y="5870448"/>
            <a:ext cx="118872" cy="118872"/>
          </a:xfrm>
          <a:prstGeom prst="ellipse">
            <a:avLst/>
          </a:prstGeom>
          <a:solidFill>
            <a:srgbClr val="1B8A89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4800600" y="6181344"/>
            <a:ext cx="118872" cy="118872"/>
          </a:xfrm>
          <a:prstGeom prst="ellipse">
            <a:avLst/>
          </a:prstGeom>
          <a:solidFill>
            <a:srgbClr val="E9F0FA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4041648" y="6254496"/>
            <a:ext cx="1124712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111111"/>
                </a:solidFill>
                <a:latin typeface="Microsoft YaHei"/>
              </a:rPr>
              <a:t>HNSW Top‑K</a:t>
            </a:r>
          </a:p>
        </p:txBody>
      </p:sp>
      <p:cxnSp>
        <p:nvCxnSpPr>
          <p:cNvPr id="196" name="Connector 195"/>
          <p:cNvCxnSpPr/>
          <p:nvPr/>
        </p:nvCxnSpPr>
        <p:spPr>
          <a:xfrm>
            <a:off x="5239512" y="5998464"/>
            <a:ext cx="521208" cy="0"/>
          </a:xfrm>
          <a:prstGeom prst="line">
            <a:avLst/>
          </a:prstGeom>
          <a:ln w="21590">
            <a:solidFill>
              <a:srgbClr val="764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Rectangle 196"/>
          <p:cNvSpPr/>
          <p:nvPr/>
        </p:nvSpPr>
        <p:spPr>
          <a:xfrm>
            <a:off x="5861304" y="5733288"/>
            <a:ext cx="594360" cy="457200"/>
          </a:xfrm>
          <a:prstGeom prst="rect">
            <a:avLst/>
          </a:prstGeom>
          <a:solidFill>
            <a:srgbClr val="D7E5F1"/>
          </a:solidFill>
          <a:ln w="8890">
            <a:solidFill>
              <a:srgbClr val="8B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934456" y="5696712"/>
            <a:ext cx="594360" cy="457200"/>
          </a:xfrm>
          <a:prstGeom prst="rect">
            <a:avLst/>
          </a:prstGeom>
          <a:solidFill>
            <a:srgbClr val="F1D8E7"/>
          </a:solidFill>
          <a:ln w="8890">
            <a:solidFill>
              <a:srgbClr val="8B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6007608" y="5660136"/>
            <a:ext cx="594360" cy="457200"/>
          </a:xfrm>
          <a:prstGeom prst="rect">
            <a:avLst/>
          </a:prstGeom>
          <a:solidFill>
            <a:srgbClr val="DDEBCF"/>
          </a:solidFill>
          <a:ln w="8890">
            <a:solidFill>
              <a:srgbClr val="8B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5623560" y="6254496"/>
            <a:ext cx="1417320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111111"/>
                </a:solidFill>
                <a:latin typeface="Microsoft YaHei"/>
              </a:rPr>
              <a:t>检索片段 + 提示词</a:t>
            </a:r>
          </a:p>
        </p:txBody>
      </p:sp>
      <p:cxnSp>
        <p:nvCxnSpPr>
          <p:cNvPr id="201" name="Connector 200"/>
          <p:cNvCxnSpPr/>
          <p:nvPr/>
        </p:nvCxnSpPr>
        <p:spPr>
          <a:xfrm>
            <a:off x="6812280" y="5998464"/>
            <a:ext cx="548640" cy="0"/>
          </a:xfrm>
          <a:prstGeom prst="line">
            <a:avLst/>
          </a:prstGeom>
          <a:ln w="21590">
            <a:solidFill>
              <a:srgbClr val="764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Rounded Rectangle 201"/>
          <p:cNvSpPr/>
          <p:nvPr/>
        </p:nvSpPr>
        <p:spPr>
          <a:xfrm>
            <a:off x="7479792" y="5733288"/>
            <a:ext cx="694944" cy="512064"/>
          </a:xfrm>
          <a:prstGeom prst="roundRect">
            <a:avLst/>
          </a:prstGeom>
          <a:solidFill>
            <a:srgbClr val="E9F0FA"/>
          </a:solidFill>
          <a:ln w="17780">
            <a:solidFill>
              <a:srgbClr val="3D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7479792" y="5733288"/>
            <a:ext cx="694944" cy="512064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3D6FB4"/>
                </a:solidFill>
                <a:latin typeface="Microsoft YaHei"/>
              </a:rPr>
              <a:t>LLM</a:t>
            </a:r>
          </a:p>
        </p:txBody>
      </p:sp>
      <p:sp>
        <p:nvSpPr>
          <p:cNvPr id="204" name="Oval 203"/>
          <p:cNvSpPr/>
          <p:nvPr/>
        </p:nvSpPr>
        <p:spPr>
          <a:xfrm>
            <a:off x="7397496" y="5843016"/>
            <a:ext cx="82296" cy="82296"/>
          </a:xfrm>
          <a:prstGeom prst="ellipse">
            <a:avLst/>
          </a:prstGeom>
          <a:solidFill>
            <a:srgbClr val="D99A32"/>
          </a:solidFill>
          <a:ln w="7620">
            <a:solidFill>
              <a:srgbClr val="D99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8174736" y="5843016"/>
            <a:ext cx="82296" cy="82296"/>
          </a:xfrm>
          <a:prstGeom prst="ellipse">
            <a:avLst/>
          </a:prstGeom>
          <a:solidFill>
            <a:srgbClr val="D99A32"/>
          </a:solidFill>
          <a:ln w="7620">
            <a:solidFill>
              <a:srgbClr val="D99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7397496" y="6117336"/>
            <a:ext cx="82296" cy="82296"/>
          </a:xfrm>
          <a:prstGeom prst="ellipse">
            <a:avLst/>
          </a:prstGeom>
          <a:solidFill>
            <a:srgbClr val="D99A32"/>
          </a:solidFill>
          <a:ln w="7620">
            <a:solidFill>
              <a:srgbClr val="D99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8174736" y="6117336"/>
            <a:ext cx="82296" cy="82296"/>
          </a:xfrm>
          <a:prstGeom prst="ellipse">
            <a:avLst/>
          </a:prstGeom>
          <a:solidFill>
            <a:srgbClr val="D99A32"/>
          </a:solidFill>
          <a:ln w="7620">
            <a:solidFill>
              <a:srgbClr val="D99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7333488" y="6254496"/>
            <a:ext cx="1051560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111111"/>
                </a:solidFill>
                <a:latin typeface="Microsoft YaHei"/>
              </a:rPr>
              <a:t>本地 LLM 生成</a:t>
            </a:r>
          </a:p>
        </p:txBody>
      </p:sp>
      <p:cxnSp>
        <p:nvCxnSpPr>
          <p:cNvPr id="209" name="Connector 208"/>
          <p:cNvCxnSpPr/>
          <p:nvPr/>
        </p:nvCxnSpPr>
        <p:spPr>
          <a:xfrm>
            <a:off x="8348472" y="5998464"/>
            <a:ext cx="566928" cy="0"/>
          </a:xfrm>
          <a:prstGeom prst="line">
            <a:avLst/>
          </a:prstGeom>
          <a:ln w="21590">
            <a:solidFill>
              <a:srgbClr val="764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Rounded Rectangle 209"/>
          <p:cNvSpPr/>
          <p:nvPr/>
        </p:nvSpPr>
        <p:spPr>
          <a:xfrm>
            <a:off x="9015984" y="5724144"/>
            <a:ext cx="1078992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64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9015984" y="5769864"/>
            <a:ext cx="1078992" cy="40233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Microsoft YaHei"/>
              </a:rPr>
              <a:t>知识增强回答</a:t>
            </a:r>
          </a:p>
        </p:txBody>
      </p:sp>
      <p:cxnSp>
        <p:nvCxnSpPr>
          <p:cNvPr id="212" name="Connector 211"/>
          <p:cNvCxnSpPr/>
          <p:nvPr/>
        </p:nvCxnSpPr>
        <p:spPr>
          <a:xfrm>
            <a:off x="10104120" y="5998464"/>
            <a:ext cx="457200" cy="0"/>
          </a:xfrm>
          <a:prstGeom prst="line">
            <a:avLst/>
          </a:prstGeom>
          <a:ln w="21590">
            <a:solidFill>
              <a:srgbClr val="764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Rounded Rectangle 212"/>
          <p:cNvSpPr/>
          <p:nvPr/>
        </p:nvSpPr>
        <p:spPr>
          <a:xfrm>
            <a:off x="10643616" y="5724144"/>
            <a:ext cx="877824" cy="530352"/>
          </a:xfrm>
          <a:prstGeom prst="roundRect">
            <a:avLst/>
          </a:prstGeom>
          <a:solidFill>
            <a:srgbClr val="E9F2E5"/>
          </a:solidFill>
          <a:ln w="13970">
            <a:solidFill>
              <a:srgbClr val="568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0643616" y="5769864"/>
            <a:ext cx="877824" cy="40233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56863C"/>
                </a:solidFill>
                <a:latin typeface="Microsoft YaHei"/>
              </a:rPr>
              <a:t>来源可追溯</a:t>
            </a:r>
          </a:p>
        </p:txBody>
      </p:sp>
      <p:cxnSp>
        <p:nvCxnSpPr>
          <p:cNvPr id="215" name="Connector 214"/>
          <p:cNvCxnSpPr/>
          <p:nvPr/>
        </p:nvCxnSpPr>
        <p:spPr>
          <a:xfrm flipH="1">
            <a:off x="4617720" y="4837176"/>
            <a:ext cx="5852160" cy="914400"/>
          </a:xfrm>
          <a:prstGeom prst="line">
            <a:avLst/>
          </a:prstGeom>
          <a:ln w="17780">
            <a:solidFill>
              <a:srgbClr val="5686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Rectangle 215"/>
          <p:cNvSpPr/>
          <p:nvPr/>
        </p:nvSpPr>
        <p:spPr>
          <a:xfrm>
            <a:off x="11859768" y="1261872"/>
            <a:ext cx="310896" cy="3822191"/>
          </a:xfrm>
          <a:prstGeom prst="rect">
            <a:avLst/>
          </a:prstGeom>
          <a:solidFill>
            <a:srgbClr val="E7F2DD"/>
          </a:solidFill>
          <a:ln w="13970">
            <a:solidFill>
              <a:srgbClr val="568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 rot="5400000">
            <a:off x="11868912" y="1353312"/>
            <a:ext cx="274320" cy="363931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56863C"/>
                </a:solidFill>
                <a:latin typeface="Microsoft YaHei"/>
              </a:rPr>
              <a:t>敏感度引导的隐私—效用平衡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DP-RAG 中文版技术路线与原理图</dc:title>
  <dc:subject>参考论文图风格，全部原生形状可编辑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