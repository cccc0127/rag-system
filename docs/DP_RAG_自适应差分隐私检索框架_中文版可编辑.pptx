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34440" y="73152"/>
            <a:ext cx="9738360" cy="34747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2000" b="1">
                <a:solidFill>
                  <a:srgbClr val="18202A"/>
                </a:solidFill>
                <a:latin typeface="Microsoft YaHei"/>
              </a:rPr>
              <a:t>面向隐私保护 RAG 的自适应差分隐私检索框架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" y="475488"/>
            <a:ext cx="2103120" cy="4535424"/>
          </a:xfrm>
          <a:prstGeom prst="roundRect">
            <a:avLst/>
          </a:prstGeom>
          <a:solidFill>
            <a:srgbClr val="EDF5FF"/>
          </a:solidFill>
          <a:ln w="14604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109728" y="914400"/>
            <a:ext cx="2103120" cy="0"/>
          </a:xfrm>
          <a:prstGeom prst="line">
            <a:avLst/>
          </a:prstGeom>
          <a:ln w="12700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28600" y="548640"/>
            <a:ext cx="347472" cy="457200"/>
          </a:xfrm>
          <a:prstGeom prst="rect">
            <a:avLst/>
          </a:prstGeom>
          <a:solidFill>
            <a:srgbClr val="FFFFFF"/>
          </a:solidFill>
          <a:ln w="1651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lded Corner 5"/>
          <p:cNvSpPr/>
          <p:nvPr/>
        </p:nvSpPr>
        <p:spPr>
          <a:xfrm>
            <a:off x="301752" y="493776"/>
            <a:ext cx="347472" cy="457200"/>
          </a:xfrm>
          <a:prstGeom prst="foldedCorner">
            <a:avLst/>
          </a:prstGeom>
          <a:solidFill>
            <a:srgbClr val="FFFFFF"/>
          </a:solidFill>
          <a:ln w="1651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365760" y="640080"/>
            <a:ext cx="201168" cy="0"/>
          </a:xfrm>
          <a:prstGeom prst="line">
            <a:avLst/>
          </a:prstGeom>
          <a:ln w="10160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65760" y="731519"/>
            <a:ext cx="201168" cy="0"/>
          </a:xfrm>
          <a:prstGeom prst="line">
            <a:avLst/>
          </a:prstGeom>
          <a:ln w="10160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5760" y="822959"/>
            <a:ext cx="201168" cy="0"/>
          </a:xfrm>
          <a:prstGeom prst="line">
            <a:avLst/>
          </a:prstGeom>
          <a:ln w="10160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19456" y="530352"/>
            <a:ext cx="1883663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2166AC"/>
                </a:solidFill>
                <a:latin typeface="Microsoft YaHei"/>
              </a:rPr>
              <a:t>数据拥有者（可信）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475488"/>
            <a:ext cx="4069080" cy="4535424"/>
          </a:xfrm>
          <a:prstGeom prst="roundRect">
            <a:avLst/>
          </a:prstGeom>
          <a:solidFill>
            <a:srgbClr val="EDF8F0"/>
          </a:solidFill>
          <a:ln w="14604">
            <a:solidFill>
              <a:srgbClr val="25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>
            <a:off x="2331720" y="914400"/>
            <a:ext cx="4069080" cy="0"/>
          </a:xfrm>
          <a:prstGeom prst="line">
            <a:avLst/>
          </a:prstGeom>
          <a:ln w="12700">
            <a:solidFill>
              <a:srgbClr val="25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entagon 12"/>
          <p:cNvSpPr/>
          <p:nvPr/>
        </p:nvSpPr>
        <p:spPr>
          <a:xfrm rot="10800000">
            <a:off x="2450591" y="548640"/>
            <a:ext cx="493776" cy="530352"/>
          </a:xfrm>
          <a:prstGeom prst="homePlate">
            <a:avLst/>
          </a:prstGeom>
          <a:solidFill>
            <a:srgbClr val="FBEAE7"/>
          </a:solidFill>
          <a:ln w="19050">
            <a:solidFill>
              <a:srgbClr val="25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0591" y="566928"/>
            <a:ext cx="493776" cy="4114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258246"/>
                </a:solidFill>
                <a:latin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530352"/>
            <a:ext cx="3849624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258246"/>
                </a:solidFill>
                <a:latin typeface="Microsoft YaHei"/>
              </a:rPr>
              <a:t>自适应差分隐私编码器（核心方法）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9672" y="475488"/>
            <a:ext cx="2816352" cy="4535424"/>
          </a:xfrm>
          <a:prstGeom prst="roundRect">
            <a:avLst/>
          </a:prstGeom>
          <a:solidFill>
            <a:srgbClr val="F3F4F5"/>
          </a:solidFill>
          <a:ln w="14604">
            <a:solidFill>
              <a:srgbClr val="6266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6519672" y="914400"/>
            <a:ext cx="2816352" cy="0"/>
          </a:xfrm>
          <a:prstGeom prst="line">
            <a:avLst/>
          </a:prstGeom>
          <a:ln w="12700">
            <a:solidFill>
              <a:srgbClr val="626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629400" y="530352"/>
            <a:ext cx="2596896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18202A"/>
                </a:solidFill>
                <a:latin typeface="Microsoft YaHei"/>
              </a:rPr>
              <a:t>不可信向量数据库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454896" y="475488"/>
            <a:ext cx="2624328" cy="4535424"/>
          </a:xfrm>
          <a:prstGeom prst="roundRect">
            <a:avLst/>
          </a:prstGeom>
          <a:solidFill>
            <a:srgbClr val="F5F0FC"/>
          </a:solidFill>
          <a:ln w="14604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9454896" y="914400"/>
            <a:ext cx="2624328" cy="0"/>
          </a:xfrm>
          <a:prstGeom prst="line">
            <a:avLst/>
          </a:prstGeom>
          <a:ln w="12700">
            <a:solidFill>
              <a:srgbClr val="623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ntagon 20"/>
          <p:cNvSpPr/>
          <p:nvPr/>
        </p:nvSpPr>
        <p:spPr>
          <a:xfrm rot="10800000">
            <a:off x="9573768" y="548640"/>
            <a:ext cx="493776" cy="530352"/>
          </a:xfrm>
          <a:prstGeom prst="homePlate">
            <a:avLst/>
          </a:prstGeom>
          <a:solidFill>
            <a:srgbClr val="FBEAE7"/>
          </a:solidFill>
          <a:ln w="19050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73768" y="566928"/>
            <a:ext cx="493776" cy="4114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800" b="1">
                <a:solidFill>
                  <a:srgbClr val="6236A4"/>
                </a:solidFill>
                <a:latin typeface="Microsoft YaHe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4624" y="530352"/>
            <a:ext cx="2404872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300" b="1">
                <a:solidFill>
                  <a:srgbClr val="6236A4"/>
                </a:solidFill>
                <a:latin typeface="Microsoft YaHei"/>
              </a:rPr>
              <a:t>用户与本地生成端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1033271"/>
            <a:ext cx="777240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18202A"/>
                </a:solidFill>
                <a:latin typeface="Microsoft YaHei"/>
              </a:rPr>
              <a:t>原始文档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" y="1280160"/>
            <a:ext cx="347472" cy="457200"/>
          </a:xfrm>
          <a:prstGeom prst="rect">
            <a:avLst/>
          </a:prstGeom>
          <a:solidFill>
            <a:srgbClr val="FFFFFF"/>
          </a:solidFill>
          <a:ln w="1651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olded Corner 25"/>
          <p:cNvSpPr/>
          <p:nvPr/>
        </p:nvSpPr>
        <p:spPr>
          <a:xfrm>
            <a:off x="923544" y="1225295"/>
            <a:ext cx="347472" cy="457200"/>
          </a:xfrm>
          <a:prstGeom prst="foldedCorner">
            <a:avLst/>
          </a:prstGeom>
          <a:solidFill>
            <a:srgbClr val="FFFFFF"/>
          </a:solidFill>
          <a:ln w="1651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87552" y="1371600"/>
            <a:ext cx="201168" cy="0"/>
          </a:xfrm>
          <a:prstGeom prst="line">
            <a:avLst/>
          </a:prstGeom>
          <a:ln w="10160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7552" y="1463040"/>
            <a:ext cx="201168" cy="0"/>
          </a:xfrm>
          <a:prstGeom prst="line">
            <a:avLst/>
          </a:prstGeom>
          <a:ln w="10160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987552" y="1554480"/>
            <a:ext cx="201168" cy="0"/>
          </a:xfrm>
          <a:prstGeom prst="line">
            <a:avLst/>
          </a:prstGeom>
          <a:ln w="10160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61288" y="1764792"/>
            <a:ext cx="0" cy="228600"/>
          </a:xfrm>
          <a:prstGeom prst="line">
            <a:avLst/>
          </a:prstGeom>
          <a:ln w="15875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86384" y="1984248"/>
            <a:ext cx="758952" cy="21031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202A"/>
                </a:solidFill>
                <a:latin typeface="Microsoft YaHei"/>
              </a:rPr>
              <a:t>重叠分块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0624" y="2304288"/>
            <a:ext cx="146304" cy="173736"/>
          </a:xfrm>
          <a:prstGeom prst="rect">
            <a:avLst/>
          </a:prstGeom>
          <a:solidFill>
            <a:srgbClr val="D7E8FA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5216" y="2304288"/>
            <a:ext cx="146304" cy="173736"/>
          </a:xfrm>
          <a:prstGeom prst="rect">
            <a:avLst/>
          </a:prstGeom>
          <a:solidFill>
            <a:srgbClr val="BBD4EF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9808" y="2304288"/>
            <a:ext cx="146304" cy="173736"/>
          </a:xfrm>
          <a:prstGeom prst="rect">
            <a:avLst/>
          </a:prstGeom>
          <a:solidFill>
            <a:srgbClr val="E8D8CC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" y="2304288"/>
            <a:ext cx="146304" cy="173736"/>
          </a:xfrm>
          <a:prstGeom prst="rect">
            <a:avLst/>
          </a:prstGeom>
          <a:solidFill>
            <a:srgbClr val="D8CDEC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78992" y="2304288"/>
            <a:ext cx="146304" cy="173736"/>
          </a:xfrm>
          <a:prstGeom prst="rect">
            <a:avLst/>
          </a:prstGeom>
          <a:solidFill>
            <a:srgbClr val="C8DCF1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243584" y="2304288"/>
            <a:ext cx="146304" cy="173736"/>
          </a:xfrm>
          <a:prstGeom prst="rect">
            <a:avLst/>
          </a:prstGeom>
          <a:solidFill>
            <a:srgbClr val="D7E8FA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08176" y="2304288"/>
            <a:ext cx="146304" cy="173736"/>
          </a:xfrm>
          <a:prstGeom prst="rect">
            <a:avLst/>
          </a:prstGeom>
          <a:solidFill>
            <a:srgbClr val="BBD4EF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91056" y="2286000"/>
            <a:ext cx="182880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202A"/>
                </a:solidFill>
                <a:latin typeface="Microsoft YaHei"/>
              </a:rPr>
              <a:t>…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161288" y="2578608"/>
            <a:ext cx="0" cy="237744"/>
          </a:xfrm>
          <a:prstGeom prst="line">
            <a:avLst/>
          </a:prstGeom>
          <a:ln w="15875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832104" y="2889504"/>
            <a:ext cx="173736" cy="201168"/>
          </a:xfrm>
          <a:prstGeom prst="line">
            <a:avLst/>
          </a:prstGeom>
          <a:ln w="9525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32104" y="3090672"/>
            <a:ext cx="201168" cy="182880"/>
          </a:xfrm>
          <a:prstGeom prst="line">
            <a:avLst/>
          </a:prstGeom>
          <a:ln w="9525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05840" y="2889504"/>
            <a:ext cx="219456" cy="118872"/>
          </a:xfrm>
          <a:prstGeom prst="line">
            <a:avLst/>
          </a:prstGeom>
          <a:ln w="9525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033272" y="3008376"/>
            <a:ext cx="192024" cy="265176"/>
          </a:xfrm>
          <a:prstGeom prst="line">
            <a:avLst/>
          </a:prstGeom>
          <a:ln w="9525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033272" y="3264408"/>
            <a:ext cx="237744" cy="9144"/>
          </a:xfrm>
          <a:prstGeom prst="line">
            <a:avLst/>
          </a:prstGeom>
          <a:ln w="9525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1225296" y="3008376"/>
            <a:ext cx="228600" cy="100584"/>
          </a:xfrm>
          <a:prstGeom prst="line">
            <a:avLst/>
          </a:prstGeom>
          <a:ln w="9525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1271016" y="3108960"/>
            <a:ext cx="182880" cy="155448"/>
          </a:xfrm>
          <a:prstGeom prst="line">
            <a:avLst/>
          </a:prstGeom>
          <a:ln w="9525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800100" y="3058668"/>
            <a:ext cx="73152" cy="731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3836" y="2857500"/>
            <a:ext cx="73152" cy="731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01268" y="3241548"/>
            <a:ext cx="73152" cy="731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193292" y="2976372"/>
            <a:ext cx="73152" cy="731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239012" y="3232404"/>
            <a:ext cx="73152" cy="731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421892" y="3076956"/>
            <a:ext cx="73152" cy="731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3328416"/>
            <a:ext cx="91440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202A"/>
                </a:solidFill>
                <a:latin typeface="Microsoft YaHei"/>
              </a:rPr>
              <a:t>嵌入模型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61288" y="3575304"/>
            <a:ext cx="0" cy="210311"/>
          </a:xfrm>
          <a:prstGeom prst="line">
            <a:avLst/>
          </a:prstGeom>
          <a:ln w="15875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320040" y="3813048"/>
            <a:ext cx="1682496" cy="67665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8056" y="3913632"/>
            <a:ext cx="1426464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2166AC"/>
                </a:solidFill>
                <a:latin typeface="Microsoft YaHei"/>
              </a:rPr>
              <a:t>原始语义向量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" y="4197096"/>
            <a:ext cx="146304" cy="173736"/>
          </a:xfrm>
          <a:prstGeom prst="rect">
            <a:avLst/>
          </a:prstGeom>
          <a:solidFill>
            <a:srgbClr val="D7E8FA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76656" y="4197096"/>
            <a:ext cx="146304" cy="173736"/>
          </a:xfrm>
          <a:prstGeom prst="rect">
            <a:avLst/>
          </a:prstGeom>
          <a:solidFill>
            <a:srgbClr val="BBD4EF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1248" y="4197096"/>
            <a:ext cx="146304" cy="173736"/>
          </a:xfrm>
          <a:prstGeom prst="rect">
            <a:avLst/>
          </a:prstGeom>
          <a:solidFill>
            <a:srgbClr val="E8D8CC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05840" y="4197096"/>
            <a:ext cx="146304" cy="173736"/>
          </a:xfrm>
          <a:prstGeom prst="rect">
            <a:avLst/>
          </a:prstGeom>
          <a:solidFill>
            <a:srgbClr val="D8CDEC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70432" y="4197096"/>
            <a:ext cx="146304" cy="173736"/>
          </a:xfrm>
          <a:prstGeom prst="rect">
            <a:avLst/>
          </a:prstGeom>
          <a:solidFill>
            <a:srgbClr val="C8DCF1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335024" y="4197096"/>
            <a:ext cx="146304" cy="173736"/>
          </a:xfrm>
          <a:prstGeom prst="rect">
            <a:avLst/>
          </a:prstGeom>
          <a:solidFill>
            <a:srgbClr val="D7E8FA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499616" y="4197096"/>
            <a:ext cx="146304" cy="173736"/>
          </a:xfrm>
          <a:prstGeom prst="rect">
            <a:avLst/>
          </a:prstGeom>
          <a:solidFill>
            <a:srgbClr val="BBD4EF"/>
          </a:solidFill>
          <a:ln w="571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682496" y="4178808"/>
            <a:ext cx="182880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202A"/>
                </a:solidFill>
                <a:latin typeface="Microsoft YaHei"/>
              </a:rPr>
              <a:t>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84048" y="4599432"/>
            <a:ext cx="155448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0">
                <a:solidFill>
                  <a:srgbClr val="5E6B78"/>
                </a:solidFill>
                <a:latin typeface="Microsoft YaHei"/>
              </a:rPr>
              <a:t>原文与生成模型均保持在本地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002536" y="4160520"/>
            <a:ext cx="329184" cy="0"/>
          </a:xfrm>
          <a:prstGeom prst="line">
            <a:avLst/>
          </a:prstGeom>
          <a:ln w="20320">
            <a:solidFill>
              <a:srgbClr val="2166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ounded Rectangle 67"/>
          <p:cNvSpPr/>
          <p:nvPr/>
        </p:nvSpPr>
        <p:spPr>
          <a:xfrm>
            <a:off x="2542032" y="905256"/>
            <a:ext cx="3648456" cy="6126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8FC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651760" y="996696"/>
            <a:ext cx="219456" cy="219456"/>
          </a:xfrm>
          <a:prstGeom prst="ellipse">
            <a:avLst/>
          </a:prstGeom>
          <a:solidFill>
            <a:srgbClr val="258246"/>
          </a:solidFill>
          <a:ln>
            <a:solidFill>
              <a:srgbClr val="25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651760" y="996696"/>
            <a:ext cx="219456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44368" y="950976"/>
            <a:ext cx="224028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258246"/>
                </a:solidFill>
                <a:latin typeface="Microsoft YaHei"/>
              </a:rPr>
              <a:t>混合隐私敏感度评估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98648" y="1161288"/>
            <a:ext cx="2404872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19" b="0">
                <a:solidFill>
                  <a:srgbClr val="18202A"/>
                </a:solidFill>
                <a:latin typeface="Microsoft YaHei"/>
              </a:rPr>
              <a:t>规则匹配 + 关键词 + 语义判断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230368" y="1014983"/>
            <a:ext cx="832104" cy="329184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10" b="0">
                <a:solidFill>
                  <a:srgbClr val="5E6B78"/>
                </a:solidFill>
                <a:latin typeface="Microsoft YaHei"/>
              </a:rPr>
              <a:t>rᵢ ∈ [0.1,10] → sᵢ ∈ [0,1]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4361688" y="1517904"/>
            <a:ext cx="0" cy="73152"/>
          </a:xfrm>
          <a:prstGeom prst="line">
            <a:avLst/>
          </a:prstGeom>
          <a:ln w="12700">
            <a:solidFill>
              <a:srgbClr val="25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ounded Rectangle 74"/>
          <p:cNvSpPr/>
          <p:nvPr/>
        </p:nvSpPr>
        <p:spPr>
          <a:xfrm>
            <a:off x="2542032" y="1572768"/>
            <a:ext cx="3648456" cy="6126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8FC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2651760" y="1664208"/>
            <a:ext cx="219456" cy="219456"/>
          </a:xfrm>
          <a:prstGeom prst="ellipse">
            <a:avLst/>
          </a:prstGeom>
          <a:solidFill>
            <a:srgbClr val="258246"/>
          </a:solidFill>
          <a:ln>
            <a:solidFill>
              <a:srgbClr val="25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2651760" y="1664208"/>
            <a:ext cx="219456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944368" y="1618488"/>
            <a:ext cx="224028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258246"/>
                </a:solidFill>
                <a:latin typeface="Microsoft YaHei"/>
              </a:rPr>
              <a:t>动态隐私参数映射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98648" y="1828800"/>
            <a:ext cx="2404872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19" b="0">
                <a:solidFill>
                  <a:srgbClr val="18202A"/>
                </a:solidFill>
                <a:latin typeface="Microsoft YaHei"/>
              </a:rPr>
              <a:t>εᵢ = f(sᵢ)，Δᵢ = g(sᵢ)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30368" y="1682495"/>
            <a:ext cx="832104" cy="329184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10" b="0">
                <a:solidFill>
                  <a:srgbClr val="5E6B78"/>
                </a:solidFill>
                <a:latin typeface="Microsoft YaHei"/>
              </a:rPr>
              <a:t>高敏感 → 小 εᵢ、大 Δᵢ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4361688" y="2185416"/>
            <a:ext cx="0" cy="73152"/>
          </a:xfrm>
          <a:prstGeom prst="line">
            <a:avLst/>
          </a:prstGeom>
          <a:ln w="12700">
            <a:solidFill>
              <a:srgbClr val="25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ounded Rectangle 81"/>
          <p:cNvSpPr/>
          <p:nvPr/>
        </p:nvSpPr>
        <p:spPr>
          <a:xfrm>
            <a:off x="2542032" y="2240280"/>
            <a:ext cx="3648456" cy="6126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8FC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2651760" y="2331720"/>
            <a:ext cx="219456" cy="219456"/>
          </a:xfrm>
          <a:prstGeom prst="ellipse">
            <a:avLst/>
          </a:prstGeom>
          <a:solidFill>
            <a:srgbClr val="258246"/>
          </a:solidFill>
          <a:ln>
            <a:solidFill>
              <a:srgbClr val="25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651760" y="2331720"/>
            <a:ext cx="219456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944368" y="2286000"/>
            <a:ext cx="224028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258246"/>
                </a:solidFill>
                <a:latin typeface="Microsoft YaHei"/>
              </a:rPr>
              <a:t>加噪前 L2 范数裁剪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98648" y="2496312"/>
            <a:ext cx="2404872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19" b="0">
                <a:solidFill>
                  <a:srgbClr val="18202A"/>
                </a:solidFill>
                <a:latin typeface="Microsoft YaHei"/>
              </a:rPr>
              <a:t>vᵢᶜ = vᵢ / max(1, ‖vᵢ‖₂ / C)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30368" y="2350008"/>
            <a:ext cx="832104" cy="329184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10" b="0">
                <a:solidFill>
                  <a:srgbClr val="5E6B78"/>
                </a:solidFill>
                <a:latin typeface="Microsoft YaHei"/>
              </a:rPr>
              <a:t>建立统一敏感度边界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4361688" y="2852928"/>
            <a:ext cx="0" cy="73152"/>
          </a:xfrm>
          <a:prstGeom prst="line">
            <a:avLst/>
          </a:prstGeom>
          <a:ln w="12700">
            <a:solidFill>
              <a:srgbClr val="25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2542032" y="2907792"/>
            <a:ext cx="3648456" cy="6126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8FC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2651760" y="2999232"/>
            <a:ext cx="219456" cy="219456"/>
          </a:xfrm>
          <a:prstGeom prst="ellipse">
            <a:avLst/>
          </a:prstGeom>
          <a:solidFill>
            <a:srgbClr val="258246"/>
          </a:solidFill>
          <a:ln>
            <a:solidFill>
              <a:srgbClr val="25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651760" y="2999232"/>
            <a:ext cx="219456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944368" y="2953512"/>
            <a:ext cx="224028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258246"/>
                </a:solidFill>
                <a:latin typeface="Microsoft YaHei"/>
              </a:rPr>
              <a:t>解析高斯噪声校准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2898648" y="3163824"/>
            <a:ext cx="2404872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19" b="0">
                <a:solidFill>
                  <a:srgbClr val="18202A"/>
                </a:solidFill>
                <a:latin typeface="Microsoft YaHei"/>
              </a:rPr>
              <a:t>求解 g(u*) = δ，σᵢ = u*Δᵢ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30368" y="3017520"/>
            <a:ext cx="832104" cy="329184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10" b="0">
                <a:solidFill>
                  <a:srgbClr val="5E6B78"/>
                </a:solidFill>
                <a:latin typeface="Microsoft YaHei"/>
              </a:rPr>
              <a:t>按分块敏感度自适应校准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4361688" y="3520440"/>
            <a:ext cx="0" cy="73152"/>
          </a:xfrm>
          <a:prstGeom prst="line">
            <a:avLst/>
          </a:prstGeom>
          <a:ln w="12700">
            <a:solidFill>
              <a:srgbClr val="25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95"/>
          <p:cNvSpPr/>
          <p:nvPr/>
        </p:nvSpPr>
        <p:spPr>
          <a:xfrm>
            <a:off x="2542032" y="3575304"/>
            <a:ext cx="3648456" cy="6126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8FC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2651760" y="3666744"/>
            <a:ext cx="219456" cy="219456"/>
          </a:xfrm>
          <a:prstGeom prst="ellipse">
            <a:avLst/>
          </a:prstGeom>
          <a:solidFill>
            <a:srgbClr val="258246"/>
          </a:solidFill>
          <a:ln>
            <a:solidFill>
              <a:srgbClr val="25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651760" y="3666744"/>
            <a:ext cx="219456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944368" y="3621024"/>
            <a:ext cx="224028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258246"/>
                </a:solidFill>
                <a:latin typeface="Microsoft YaHei"/>
              </a:rPr>
              <a:t>维度能量修正与加噪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898648" y="3831336"/>
            <a:ext cx="2404872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19" b="0">
                <a:solidFill>
                  <a:srgbClr val="18202A"/>
                </a:solidFill>
                <a:latin typeface="Microsoft YaHei"/>
              </a:rPr>
              <a:t>σᵢ,dim = σᵢ·α/√d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30368" y="3685032"/>
            <a:ext cx="832104" cy="329184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10" b="0">
                <a:solidFill>
                  <a:srgbClr val="5E6B78"/>
                </a:solidFill>
                <a:latin typeface="Microsoft YaHei"/>
              </a:rPr>
              <a:t>zᵢ ~ N(0, σ²ᵢ,dim I)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4361688" y="4187952"/>
            <a:ext cx="0" cy="73152"/>
          </a:xfrm>
          <a:prstGeom prst="line">
            <a:avLst/>
          </a:prstGeom>
          <a:ln w="12700">
            <a:solidFill>
              <a:srgbClr val="25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Rounded Rectangle 102"/>
          <p:cNvSpPr/>
          <p:nvPr/>
        </p:nvSpPr>
        <p:spPr>
          <a:xfrm>
            <a:off x="2542032" y="4242816"/>
            <a:ext cx="3648456" cy="61264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8FC5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2651760" y="4334256"/>
            <a:ext cx="219456" cy="219456"/>
          </a:xfrm>
          <a:prstGeom prst="ellipse">
            <a:avLst/>
          </a:prstGeom>
          <a:solidFill>
            <a:srgbClr val="258246"/>
          </a:solidFill>
          <a:ln>
            <a:solidFill>
              <a:srgbClr val="2582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651760" y="4334256"/>
            <a:ext cx="219456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944368" y="4288536"/>
            <a:ext cx="224028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258246"/>
                </a:solidFill>
                <a:latin typeface="Microsoft YaHei"/>
              </a:rPr>
              <a:t>最终 L2 归一化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898648" y="4498848"/>
            <a:ext cx="2404872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19" b="0">
                <a:solidFill>
                  <a:srgbClr val="18202A"/>
                </a:solidFill>
                <a:latin typeface="Microsoft YaHei"/>
              </a:rPr>
              <a:t>ṽᵢ = (vᵢᶜ + zᵢ)/‖vᵢᶜ + zᵢ‖₂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30368" y="4352544"/>
            <a:ext cx="832104" cy="329184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10" b="0">
                <a:solidFill>
                  <a:srgbClr val="5E6B78"/>
                </a:solidFill>
                <a:latin typeface="Microsoft YaHei"/>
              </a:rPr>
              <a:t>输出单位隐私向量</a:t>
            </a:r>
          </a:p>
        </p:txBody>
      </p:sp>
      <p:cxnSp>
        <p:nvCxnSpPr>
          <p:cNvPr id="109" name="Connector 108"/>
          <p:cNvCxnSpPr/>
          <p:nvPr/>
        </p:nvCxnSpPr>
        <p:spPr>
          <a:xfrm>
            <a:off x="6400800" y="4160520"/>
            <a:ext cx="118872" cy="0"/>
          </a:xfrm>
          <a:prstGeom prst="line">
            <a:avLst/>
          </a:prstGeom>
          <a:ln w="20320">
            <a:solidFill>
              <a:srgbClr val="2582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Rounded Rectangle 109"/>
          <p:cNvSpPr/>
          <p:nvPr/>
        </p:nvSpPr>
        <p:spPr>
          <a:xfrm>
            <a:off x="6739128" y="950976"/>
            <a:ext cx="2377440" cy="832104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AAB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894576" y="1042415"/>
            <a:ext cx="2066543" cy="21031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18202A"/>
                </a:solidFill>
                <a:latin typeface="Microsoft YaHei"/>
              </a:rPr>
              <a:t>存储：差分隐私保护向量</a:t>
            </a:r>
          </a:p>
        </p:txBody>
      </p:sp>
      <p:sp>
        <p:nvSpPr>
          <p:cNvPr id="112" name="Oval 111"/>
          <p:cNvSpPr/>
          <p:nvPr/>
        </p:nvSpPr>
        <p:spPr>
          <a:xfrm>
            <a:off x="7104888" y="1353312"/>
            <a:ext cx="50292" cy="50292"/>
          </a:xfrm>
          <a:prstGeom prst="ellipse">
            <a:avLst/>
          </a:prstGeom>
          <a:solidFill>
            <a:srgbClr val="75A5DF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7269479" y="1353312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7434071" y="1353312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7598663" y="1353312"/>
            <a:ext cx="50292" cy="50292"/>
          </a:xfrm>
          <a:prstGeom prst="ellipse">
            <a:avLst/>
          </a:prstGeom>
          <a:solidFill>
            <a:srgbClr val="75A5DF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763256" y="1353312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7927848" y="1353312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8092440" y="1353312"/>
            <a:ext cx="50292" cy="50292"/>
          </a:xfrm>
          <a:prstGeom prst="ellipse">
            <a:avLst/>
          </a:prstGeom>
          <a:solidFill>
            <a:srgbClr val="75A5DF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257031" y="1353312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421624" y="1353312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7104888" y="1472184"/>
            <a:ext cx="50292" cy="50292"/>
          </a:xfrm>
          <a:prstGeom prst="ellipse">
            <a:avLst/>
          </a:prstGeom>
          <a:solidFill>
            <a:srgbClr val="75A5DF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7269479" y="1472184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7434071" y="1472184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7598663" y="1472184"/>
            <a:ext cx="50292" cy="50292"/>
          </a:xfrm>
          <a:prstGeom prst="ellipse">
            <a:avLst/>
          </a:prstGeom>
          <a:solidFill>
            <a:srgbClr val="75A5DF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7763256" y="1472184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7927848" y="1472184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8092440" y="1472184"/>
            <a:ext cx="50292" cy="50292"/>
          </a:xfrm>
          <a:prstGeom prst="ellipse">
            <a:avLst/>
          </a:prstGeom>
          <a:solidFill>
            <a:srgbClr val="75A5DF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8257031" y="1472184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8421624" y="1472184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7104888" y="1591056"/>
            <a:ext cx="50292" cy="50292"/>
          </a:xfrm>
          <a:prstGeom prst="ellipse">
            <a:avLst/>
          </a:prstGeom>
          <a:solidFill>
            <a:srgbClr val="75A5DF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7269479" y="1591056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7434071" y="1591056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7598663" y="1591056"/>
            <a:ext cx="50292" cy="50292"/>
          </a:xfrm>
          <a:prstGeom prst="ellipse">
            <a:avLst/>
          </a:prstGeom>
          <a:solidFill>
            <a:srgbClr val="75A5DF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7763256" y="1591056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7927848" y="1591056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8092440" y="1591056"/>
            <a:ext cx="50292" cy="50292"/>
          </a:xfrm>
          <a:prstGeom prst="ellipse">
            <a:avLst/>
          </a:prstGeom>
          <a:solidFill>
            <a:srgbClr val="75A5DF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8257031" y="1591056"/>
            <a:ext cx="50292" cy="50292"/>
          </a:xfrm>
          <a:prstGeom prst="ellipse">
            <a:avLst/>
          </a:prstGeom>
          <a:solidFill>
            <a:srgbClr val="8F83D7"/>
          </a:solidFill>
          <a:ln w="7620">
            <a:solidFill>
              <a:srgbClr val="8F83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7927848" y="1783080"/>
            <a:ext cx="0" cy="210312"/>
          </a:xfrm>
          <a:prstGeom prst="line">
            <a:avLst/>
          </a:prstGeom>
          <a:ln w="15875">
            <a:solidFill>
              <a:srgbClr val="626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ounded Rectangle 138"/>
          <p:cNvSpPr/>
          <p:nvPr/>
        </p:nvSpPr>
        <p:spPr>
          <a:xfrm>
            <a:off x="6739128" y="2020824"/>
            <a:ext cx="2377440" cy="1170432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AAB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903720" y="2112264"/>
            <a:ext cx="2048256" cy="21031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18202A"/>
                </a:solidFill>
                <a:latin typeface="Microsoft YaHei"/>
              </a:rPr>
              <a:t>HNSW 近似最近邻索引</a:t>
            </a:r>
          </a:p>
        </p:txBody>
      </p:sp>
      <p:cxnSp>
        <p:nvCxnSpPr>
          <p:cNvPr id="141" name="Connector 140"/>
          <p:cNvCxnSpPr/>
          <p:nvPr/>
        </p:nvCxnSpPr>
        <p:spPr>
          <a:xfrm flipV="1">
            <a:off x="7562088" y="2459736"/>
            <a:ext cx="292608" cy="237744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562088" y="2697480"/>
            <a:ext cx="347472" cy="201168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854696" y="2459736"/>
            <a:ext cx="347471" cy="164592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7909560" y="2624328"/>
            <a:ext cx="292607" cy="274320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909560" y="2898648"/>
            <a:ext cx="338328" cy="36576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8202167" y="2624328"/>
            <a:ext cx="45721" cy="310896"/>
          </a:xfrm>
          <a:prstGeom prst="line">
            <a:avLst/>
          </a:prstGeom>
          <a:ln w="127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7507223" y="2642616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7799831" y="2404872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7854696" y="2843784"/>
            <a:ext cx="118872" cy="118872"/>
          </a:xfrm>
          <a:prstGeom prst="ellipse">
            <a:avLst/>
          </a:prstGeom>
          <a:solidFill>
            <a:srgbClr val="1B8A89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8147303" y="2569464"/>
            <a:ext cx="118872" cy="118872"/>
          </a:xfrm>
          <a:prstGeom prst="ellipse">
            <a:avLst/>
          </a:prstGeom>
          <a:solidFill>
            <a:srgbClr val="1B8A89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8193023" y="2880360"/>
            <a:ext cx="118872" cy="118872"/>
          </a:xfrm>
          <a:prstGeom prst="ellipse">
            <a:avLst/>
          </a:prstGeom>
          <a:solidFill>
            <a:srgbClr val="E9F0FA"/>
          </a:solidFill>
          <a:ln w="7620">
            <a:solidFill>
              <a:srgbClr val="1B8A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>
            <a:off x="7927848" y="3191256"/>
            <a:ext cx="0" cy="210312"/>
          </a:xfrm>
          <a:prstGeom prst="line">
            <a:avLst/>
          </a:prstGeom>
          <a:ln w="15875">
            <a:solidFill>
              <a:srgbClr val="626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Rounded Rectangle 152"/>
          <p:cNvSpPr/>
          <p:nvPr/>
        </p:nvSpPr>
        <p:spPr>
          <a:xfrm>
            <a:off x="6739128" y="3429000"/>
            <a:ext cx="2377440" cy="111556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AAB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958584" y="3520440"/>
            <a:ext cx="1938528" cy="21031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50" b="1">
                <a:solidFill>
                  <a:srgbClr val="18202A"/>
                </a:solidFill>
                <a:latin typeface="Microsoft YaHei"/>
              </a:rPr>
              <a:t>余弦相似度检索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940296" y="3840480"/>
            <a:ext cx="1975104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50" b="0">
                <a:solidFill>
                  <a:srgbClr val="5E6B78"/>
                </a:solidFill>
                <a:latin typeface="Microsoft YaHei"/>
              </a:rPr>
              <a:t>返回 Top‑K 分块标识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077456" y="4123944"/>
            <a:ext cx="438912" cy="256032"/>
          </a:xfrm>
          <a:prstGeom prst="rect">
            <a:avLst/>
          </a:prstGeom>
          <a:solidFill>
            <a:srgbClr val="FFFFFF"/>
          </a:solidFill>
          <a:ln w="8255">
            <a:solidFill>
              <a:srgbClr val="8D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077456" y="4123944"/>
            <a:ext cx="438912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202A"/>
                </a:solidFill>
                <a:latin typeface="Microsoft YaHei"/>
              </a:rPr>
              <a:t>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7516368" y="4123944"/>
            <a:ext cx="438912" cy="256032"/>
          </a:xfrm>
          <a:prstGeom prst="rect">
            <a:avLst/>
          </a:prstGeom>
          <a:solidFill>
            <a:srgbClr val="FFFFFF"/>
          </a:solidFill>
          <a:ln w="8255">
            <a:solidFill>
              <a:srgbClr val="8D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7516368" y="4123944"/>
            <a:ext cx="438912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202A"/>
                </a:solidFill>
                <a:latin typeface="Microsoft YaHei"/>
              </a:rPr>
              <a:t>7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955279" y="4123944"/>
            <a:ext cx="438912" cy="256032"/>
          </a:xfrm>
          <a:prstGeom prst="rect">
            <a:avLst/>
          </a:prstGeom>
          <a:solidFill>
            <a:srgbClr val="FFFFFF"/>
          </a:solidFill>
          <a:ln w="8255">
            <a:solidFill>
              <a:srgbClr val="8D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955279" y="4123944"/>
            <a:ext cx="438912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202A"/>
                </a:solidFill>
                <a:latin typeface="Microsoft YaHei"/>
              </a:rPr>
              <a:t>…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394192" y="4123944"/>
            <a:ext cx="438912" cy="256032"/>
          </a:xfrm>
          <a:prstGeom prst="rect">
            <a:avLst/>
          </a:prstGeom>
          <a:solidFill>
            <a:srgbClr val="FFFFFF"/>
          </a:solidFill>
          <a:ln w="8255">
            <a:solidFill>
              <a:srgbClr val="8D96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8394192" y="4123944"/>
            <a:ext cx="438912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202A"/>
                </a:solidFill>
                <a:latin typeface="Microsoft YaHei"/>
              </a:rPr>
              <a:t>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720840" y="4608576"/>
            <a:ext cx="2414016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50" b="1">
                <a:solidFill>
                  <a:srgbClr val="A32929"/>
                </a:solidFill>
                <a:latin typeface="Microsoft YaHei"/>
              </a:rPr>
              <a:t>服务器可观察存储向量和查询，
但差分隐私降低语义推断与重构风险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9665208" y="941832"/>
            <a:ext cx="2203704" cy="47548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B9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9802368" y="1033271"/>
            <a:ext cx="1920240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100" b="1">
                <a:solidFill>
                  <a:srgbClr val="6236A4"/>
                </a:solidFill>
                <a:latin typeface="Microsoft YaHei"/>
              </a:rPr>
              <a:t>用户查询 q</a:t>
            </a:r>
          </a:p>
        </p:txBody>
      </p:sp>
      <p:cxnSp>
        <p:nvCxnSpPr>
          <p:cNvPr id="167" name="Connector 166"/>
          <p:cNvCxnSpPr/>
          <p:nvPr/>
        </p:nvCxnSpPr>
        <p:spPr>
          <a:xfrm>
            <a:off x="10762488" y="1417320"/>
            <a:ext cx="0" cy="192024"/>
          </a:xfrm>
          <a:prstGeom prst="line">
            <a:avLst/>
          </a:prstGeom>
          <a:ln w="15875">
            <a:solidFill>
              <a:srgbClr val="623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ounded Rectangle 167"/>
          <p:cNvSpPr/>
          <p:nvPr/>
        </p:nvSpPr>
        <p:spPr>
          <a:xfrm>
            <a:off x="9665208" y="1636776"/>
            <a:ext cx="2203704" cy="65836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B9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Connector 168"/>
          <p:cNvCxnSpPr/>
          <p:nvPr/>
        </p:nvCxnSpPr>
        <p:spPr>
          <a:xfrm flipV="1">
            <a:off x="9884664" y="1773936"/>
            <a:ext cx="173736" cy="201168"/>
          </a:xfrm>
          <a:prstGeom prst="line">
            <a:avLst/>
          </a:prstGeom>
          <a:ln w="9525">
            <a:solidFill>
              <a:srgbClr val="623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9884664" y="1975104"/>
            <a:ext cx="201168" cy="182880"/>
          </a:xfrm>
          <a:prstGeom prst="line">
            <a:avLst/>
          </a:prstGeom>
          <a:ln w="9525">
            <a:solidFill>
              <a:srgbClr val="623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058400" y="1773936"/>
            <a:ext cx="219456" cy="118871"/>
          </a:xfrm>
          <a:prstGeom prst="line">
            <a:avLst/>
          </a:prstGeom>
          <a:ln w="9525">
            <a:solidFill>
              <a:srgbClr val="623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085832" y="1892807"/>
            <a:ext cx="192024" cy="265177"/>
          </a:xfrm>
          <a:prstGeom prst="line">
            <a:avLst/>
          </a:prstGeom>
          <a:ln w="9525">
            <a:solidFill>
              <a:srgbClr val="623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085832" y="2148840"/>
            <a:ext cx="237744" cy="9144"/>
          </a:xfrm>
          <a:prstGeom prst="line">
            <a:avLst/>
          </a:prstGeom>
          <a:ln w="9525">
            <a:solidFill>
              <a:srgbClr val="623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277856" y="1892807"/>
            <a:ext cx="228600" cy="100584"/>
          </a:xfrm>
          <a:prstGeom prst="line">
            <a:avLst/>
          </a:prstGeom>
          <a:ln w="9525">
            <a:solidFill>
              <a:srgbClr val="623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10323576" y="1993391"/>
            <a:ext cx="182880" cy="155449"/>
          </a:xfrm>
          <a:prstGeom prst="line">
            <a:avLst/>
          </a:prstGeom>
          <a:ln w="9525">
            <a:solidFill>
              <a:srgbClr val="623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Oval 175"/>
          <p:cNvSpPr/>
          <p:nvPr/>
        </p:nvSpPr>
        <p:spPr>
          <a:xfrm>
            <a:off x="9852660" y="1943100"/>
            <a:ext cx="73152" cy="731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10026396" y="1741932"/>
            <a:ext cx="73152" cy="731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10053828" y="2125979"/>
            <a:ext cx="73152" cy="731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10245852" y="1860803"/>
            <a:ext cx="73152" cy="731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10291572" y="2116836"/>
            <a:ext cx="73152" cy="731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10474452" y="1961387"/>
            <a:ext cx="73152" cy="73152"/>
          </a:xfrm>
          <a:prstGeom prst="ellipse">
            <a:avLst/>
          </a:prstGeom>
          <a:solidFill>
            <a:srgbClr val="FFFFFF"/>
          </a:solidFill>
          <a:ln w="7620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10533888" y="1746504"/>
            <a:ext cx="1143000" cy="38404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6236A4"/>
                </a:solidFill>
                <a:latin typeface="Microsoft YaHei"/>
              </a:rPr>
              <a:t>查询向量编码
与 L2 归一化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10762488" y="2295144"/>
            <a:ext cx="0" cy="173736"/>
          </a:xfrm>
          <a:prstGeom prst="line">
            <a:avLst/>
          </a:prstGeom>
          <a:ln w="15875">
            <a:solidFill>
              <a:srgbClr val="623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Rounded Rectangle 183"/>
          <p:cNvSpPr/>
          <p:nvPr/>
        </p:nvSpPr>
        <p:spPr>
          <a:xfrm>
            <a:off x="9665208" y="2496312"/>
            <a:ext cx="2203704" cy="50292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B9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793224" y="2587752"/>
            <a:ext cx="1938528" cy="24688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6236A4"/>
                </a:solidFill>
                <a:latin typeface="Microsoft YaHei"/>
              </a:rPr>
              <a:t>检索请求（不对查询加噪）</a:t>
            </a:r>
          </a:p>
        </p:txBody>
      </p:sp>
      <p:cxnSp>
        <p:nvCxnSpPr>
          <p:cNvPr id="186" name="Connector 185"/>
          <p:cNvCxnSpPr/>
          <p:nvPr/>
        </p:nvCxnSpPr>
        <p:spPr>
          <a:xfrm flipH="1">
            <a:off x="9336024" y="2743200"/>
            <a:ext cx="329184" cy="0"/>
          </a:xfrm>
          <a:prstGeom prst="line">
            <a:avLst/>
          </a:prstGeom>
          <a:ln w="17780">
            <a:solidFill>
              <a:srgbClr val="623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10762488" y="2999232"/>
            <a:ext cx="0" cy="192024"/>
          </a:xfrm>
          <a:prstGeom prst="line">
            <a:avLst/>
          </a:prstGeom>
          <a:ln w="15875">
            <a:solidFill>
              <a:srgbClr val="6236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Rounded Rectangle 187"/>
          <p:cNvSpPr/>
          <p:nvPr/>
        </p:nvSpPr>
        <p:spPr>
          <a:xfrm>
            <a:off x="9665208" y="3218688"/>
            <a:ext cx="2203704" cy="585216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B9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765792" y="3310128"/>
            <a:ext cx="1993392" cy="22860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6236A4"/>
                </a:solidFill>
                <a:latin typeface="Microsoft YaHei"/>
              </a:rPr>
              <a:t>检索到的 Top‑K 文档分块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10021824" y="3575304"/>
            <a:ext cx="146304" cy="173736"/>
          </a:xfrm>
          <a:prstGeom prst="rect">
            <a:avLst/>
          </a:prstGeom>
          <a:solidFill>
            <a:srgbClr val="D7E8FA"/>
          </a:solidFill>
          <a:ln w="5715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0186416" y="3575304"/>
            <a:ext cx="146304" cy="173736"/>
          </a:xfrm>
          <a:prstGeom prst="rect">
            <a:avLst/>
          </a:prstGeom>
          <a:solidFill>
            <a:srgbClr val="BBD4EF"/>
          </a:solidFill>
          <a:ln w="5715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10351008" y="3575304"/>
            <a:ext cx="146304" cy="173736"/>
          </a:xfrm>
          <a:prstGeom prst="rect">
            <a:avLst/>
          </a:prstGeom>
          <a:solidFill>
            <a:srgbClr val="E8D8CC"/>
          </a:solidFill>
          <a:ln w="5715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10515600" y="3575304"/>
            <a:ext cx="146304" cy="173736"/>
          </a:xfrm>
          <a:prstGeom prst="rect">
            <a:avLst/>
          </a:prstGeom>
          <a:solidFill>
            <a:srgbClr val="D8CDEC"/>
          </a:solidFill>
          <a:ln w="5715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10680192" y="3575304"/>
            <a:ext cx="146304" cy="173736"/>
          </a:xfrm>
          <a:prstGeom prst="rect">
            <a:avLst/>
          </a:prstGeom>
          <a:solidFill>
            <a:srgbClr val="C8DCF1"/>
          </a:solidFill>
          <a:ln w="5715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10844784" y="3575304"/>
            <a:ext cx="146304" cy="173736"/>
          </a:xfrm>
          <a:prstGeom prst="rect">
            <a:avLst/>
          </a:prstGeom>
          <a:solidFill>
            <a:srgbClr val="D7E8FA"/>
          </a:solidFill>
          <a:ln w="5715">
            <a:solidFill>
              <a:srgbClr val="6236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11027664" y="3557016"/>
            <a:ext cx="182880" cy="182880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18202A"/>
                </a:solidFill>
                <a:latin typeface="Microsoft YaHei"/>
              </a:rPr>
              <a:t>…</a:t>
            </a:r>
          </a:p>
        </p:txBody>
      </p:sp>
      <p:cxnSp>
        <p:nvCxnSpPr>
          <p:cNvPr id="197" name="Connector 196"/>
          <p:cNvCxnSpPr/>
          <p:nvPr/>
        </p:nvCxnSpPr>
        <p:spPr>
          <a:xfrm>
            <a:off x="10762488" y="3803904"/>
            <a:ext cx="0" cy="182880"/>
          </a:xfrm>
          <a:prstGeom prst="line">
            <a:avLst/>
          </a:prstGeom>
          <a:ln w="15875">
            <a:solidFill>
              <a:srgbClr val="C85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Rounded Rectangle 197"/>
          <p:cNvSpPr/>
          <p:nvPr/>
        </p:nvSpPr>
        <p:spPr>
          <a:xfrm>
            <a:off x="9665208" y="4014215"/>
            <a:ext cx="2203704" cy="420624"/>
          </a:xfrm>
          <a:prstGeom prst="roundRect">
            <a:avLst/>
          </a:prstGeom>
          <a:solidFill>
            <a:srgbClr val="FFF3EA"/>
          </a:solidFill>
          <a:ln w="10795">
            <a:solidFill>
              <a:srgbClr val="E7A0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9784080" y="3986784"/>
            <a:ext cx="694944" cy="512064"/>
          </a:xfrm>
          <a:prstGeom prst="roundRect">
            <a:avLst/>
          </a:prstGeom>
          <a:solidFill>
            <a:srgbClr val="E9F0FA"/>
          </a:solidFill>
          <a:ln w="17780">
            <a:solidFill>
              <a:srgbClr val="3D6F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9784080" y="3986784"/>
            <a:ext cx="694944" cy="512064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3D6FB4"/>
                </a:solidFill>
                <a:latin typeface="Microsoft YaHei"/>
              </a:rPr>
              <a:t>LLM</a:t>
            </a:r>
          </a:p>
        </p:txBody>
      </p:sp>
      <p:sp>
        <p:nvSpPr>
          <p:cNvPr id="201" name="Oval 200"/>
          <p:cNvSpPr/>
          <p:nvPr/>
        </p:nvSpPr>
        <p:spPr>
          <a:xfrm>
            <a:off x="9701784" y="4096512"/>
            <a:ext cx="82296" cy="82296"/>
          </a:xfrm>
          <a:prstGeom prst="ellipse">
            <a:avLst/>
          </a:prstGeom>
          <a:solidFill>
            <a:srgbClr val="D99A32"/>
          </a:solidFill>
          <a:ln w="762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10479024" y="4096512"/>
            <a:ext cx="82296" cy="82296"/>
          </a:xfrm>
          <a:prstGeom prst="ellipse">
            <a:avLst/>
          </a:prstGeom>
          <a:solidFill>
            <a:srgbClr val="D99A32"/>
          </a:solidFill>
          <a:ln w="762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701784" y="4370832"/>
            <a:ext cx="82296" cy="82296"/>
          </a:xfrm>
          <a:prstGeom prst="ellipse">
            <a:avLst/>
          </a:prstGeom>
          <a:solidFill>
            <a:srgbClr val="D99A32"/>
          </a:solidFill>
          <a:ln w="762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10479024" y="4370832"/>
            <a:ext cx="82296" cy="82296"/>
          </a:xfrm>
          <a:prstGeom prst="ellipse">
            <a:avLst/>
          </a:prstGeom>
          <a:solidFill>
            <a:srgbClr val="D99A32"/>
          </a:solidFill>
          <a:ln w="7620">
            <a:solidFill>
              <a:srgbClr val="D99A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10515600" y="4078224"/>
            <a:ext cx="1115568" cy="21945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C85B19"/>
                </a:solidFill>
                <a:latin typeface="Microsoft YaHei"/>
              </a:rPr>
              <a:t>本地 LLM 生成</a:t>
            </a:r>
          </a:p>
        </p:txBody>
      </p:sp>
      <p:cxnSp>
        <p:nvCxnSpPr>
          <p:cNvPr id="206" name="Connector 205"/>
          <p:cNvCxnSpPr/>
          <p:nvPr/>
        </p:nvCxnSpPr>
        <p:spPr>
          <a:xfrm>
            <a:off x="10762488" y="4434840"/>
            <a:ext cx="0" cy="155448"/>
          </a:xfrm>
          <a:prstGeom prst="line">
            <a:avLst/>
          </a:prstGeom>
          <a:ln w="15875">
            <a:solidFill>
              <a:srgbClr val="C85B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" name="Rounded Rectangle 206"/>
          <p:cNvSpPr/>
          <p:nvPr/>
        </p:nvSpPr>
        <p:spPr>
          <a:xfrm>
            <a:off x="9665208" y="4599432"/>
            <a:ext cx="2203704" cy="29260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B99D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9829800" y="4599432"/>
            <a:ext cx="1874519" cy="29260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6236A4"/>
                </a:solidFill>
                <a:latin typeface="Microsoft YaHei"/>
              </a:rPr>
              <a:t>知识增强回答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109728" y="5166360"/>
            <a:ext cx="11969496" cy="1554480"/>
          </a:xfrm>
          <a:prstGeom prst="roundRect">
            <a:avLst/>
          </a:prstGeom>
          <a:solidFill>
            <a:srgbClr val="FFF1F1"/>
          </a:solidFill>
          <a:ln w="11430">
            <a:solidFill>
              <a:srgbClr val="E4A3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4078224" y="5202936"/>
            <a:ext cx="4041648" cy="256032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400" b="1">
                <a:solidFill>
                  <a:srgbClr val="A32929"/>
                </a:solidFill>
                <a:latin typeface="Microsoft YaHei"/>
              </a:rPr>
              <a:t>威胁模型、隐私边界与效用目标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256032" y="5504688"/>
            <a:ext cx="11676888" cy="0"/>
          </a:xfrm>
          <a:prstGeom prst="line">
            <a:avLst/>
          </a:prstGeom>
          <a:ln w="8890">
            <a:solidFill>
              <a:srgbClr val="E4A3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TextBox 211"/>
          <p:cNvSpPr txBox="1"/>
          <p:nvPr/>
        </p:nvSpPr>
        <p:spPr>
          <a:xfrm>
            <a:off x="384048" y="5586984"/>
            <a:ext cx="1115568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166AC"/>
                </a:solidFill>
                <a:latin typeface="Microsoft YaHei"/>
              </a:rPr>
              <a:t>信任边界</a:t>
            </a:r>
          </a:p>
        </p:txBody>
      </p:sp>
      <p:cxnSp>
        <p:nvCxnSpPr>
          <p:cNvPr id="213" name="Connector 212"/>
          <p:cNvCxnSpPr/>
          <p:nvPr/>
        </p:nvCxnSpPr>
        <p:spPr>
          <a:xfrm>
            <a:off x="502920" y="5925312"/>
            <a:ext cx="1920240" cy="0"/>
          </a:xfrm>
          <a:prstGeom prst="line">
            <a:avLst/>
          </a:prstGeom>
          <a:ln w="12700">
            <a:solidFill>
              <a:srgbClr val="2166A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TextBox 213"/>
          <p:cNvSpPr txBox="1"/>
          <p:nvPr/>
        </p:nvSpPr>
        <p:spPr>
          <a:xfrm>
            <a:off x="384048" y="6007608"/>
            <a:ext cx="2231136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869" b="0">
                <a:solidFill>
                  <a:srgbClr val="18202A"/>
                </a:solidFill>
                <a:latin typeface="Microsoft YaHei"/>
              </a:rPr>
              <a:t>可信：数据拥有者、本地 LLM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502920" y="6309360"/>
            <a:ext cx="1920240" cy="0"/>
          </a:xfrm>
          <a:prstGeom prst="line">
            <a:avLst/>
          </a:prstGeom>
          <a:ln w="12700">
            <a:solidFill>
              <a:srgbClr val="A3292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384048" y="6391656"/>
            <a:ext cx="2231136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869" b="0">
                <a:solidFill>
                  <a:srgbClr val="18202A"/>
                </a:solidFill>
                <a:latin typeface="Microsoft YaHei"/>
              </a:rPr>
              <a:t>不可信：外部向量数据库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880360" y="5586984"/>
            <a:ext cx="1298448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A32929"/>
                </a:solidFill>
                <a:latin typeface="Microsoft YaHei"/>
              </a:rPr>
              <a:t>攻击者能力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2798064" y="5833872"/>
            <a:ext cx="2487168" cy="6583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l"/>
            <a:r>
              <a:rPr sz="860" b="0">
                <a:solidFill>
                  <a:srgbClr val="18202A"/>
                </a:solidFill>
                <a:latin typeface="Microsoft YaHei"/>
              </a:rPr>
              <a:t>• 知道嵌入模型与保护机制
• 观察存储向量和查询向量
• 尝试成员推断或语义重构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5650992" y="5586984"/>
            <a:ext cx="1298448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258246"/>
                </a:solidFill>
                <a:latin typeface="Microsoft YaHei"/>
              </a:rPr>
              <a:t>隐私机制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5468112" y="5843016"/>
            <a:ext cx="2816352" cy="49377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80" b="0">
                <a:solidFill>
                  <a:srgbClr val="18202A"/>
                </a:solidFill>
                <a:latin typeface="Microsoft YaHei"/>
              </a:rPr>
              <a:t>按分块敏感度自适应校准 (εᵢ,δ) 参数，
降低原始向量及文档语义的泄露风险。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5961888" y="6364224"/>
            <a:ext cx="1828800" cy="24688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961888" y="6364224"/>
            <a:ext cx="1828800" cy="24688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18202A"/>
                </a:solidFill>
                <a:latin typeface="Microsoft YaHei"/>
              </a:rPr>
              <a:t>M(D) ≈ M(D′)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8659368" y="5586984"/>
            <a:ext cx="1463040" cy="20116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1000" b="1">
                <a:solidFill>
                  <a:srgbClr val="C85B19"/>
                </a:solidFill>
                <a:latin typeface="Microsoft YaHei"/>
              </a:rPr>
              <a:t>效用与效率目标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8348472" y="5843016"/>
            <a:ext cx="3172968" cy="493776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880" b="0">
                <a:solidFill>
                  <a:srgbClr val="18202A"/>
                </a:solidFill>
                <a:latin typeface="Microsoft YaHei"/>
              </a:rPr>
              <a:t>在隐私约束下保持 Recall / MRR，
并利用 HNSW 提升查询与扩展效率。</a:t>
            </a:r>
          </a:p>
        </p:txBody>
      </p:sp>
      <p:sp>
        <p:nvSpPr>
          <p:cNvPr id="225" name="Rounded Rectangle 224"/>
          <p:cNvSpPr/>
          <p:nvPr/>
        </p:nvSpPr>
        <p:spPr>
          <a:xfrm>
            <a:off x="8924544" y="6364224"/>
            <a:ext cx="2039112" cy="246888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D9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8924544" y="6364224"/>
            <a:ext cx="2039112" cy="246888"/>
          </a:xfrm>
          <a:prstGeom prst="rect">
            <a:avLst/>
          </a:prstGeom>
          <a:noFill/>
        </p:spPr>
        <p:txBody>
          <a:bodyPr wrap="none" lIns="45720" rIns="45720" tIns="9144" bIns="9144" anchor="ctr">
            <a:spAutoFit/>
          </a:bodyPr>
          <a:lstStyle/>
          <a:p>
            <a:pPr algn="ctr"/>
            <a:r>
              <a:rPr sz="900" b="1">
                <a:solidFill>
                  <a:srgbClr val="A32929"/>
                </a:solidFill>
                <a:latin typeface="Microsoft YaHei"/>
              </a:rPr>
              <a:t>隐私保护 · 检索可用 · 可扩展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面向隐私保护 RAG 的自适应差分隐私检索框架</dc:title>
  <dc:subject>中文版可编辑架构图，已按代码实现修正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