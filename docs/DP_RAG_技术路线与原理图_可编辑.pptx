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B8A89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7863840" cy="5029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7233B"/>
                </a:solidFill>
                <a:latin typeface="Microsoft YaHei"/>
              </a:rPr>
              <a:t>隐私增强 DP‑RAG：技术路线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88036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可编辑原理架构 · 离线保护 / 在线问答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987552"/>
            <a:ext cx="11183112" cy="60350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841248" cy="274320"/>
          </a:xfrm>
          <a:prstGeom prst="roundRect">
            <a:avLst/>
          </a:prstGeom>
          <a:solidFill>
            <a:srgbClr val="E9F0FA"/>
          </a:solidFill>
          <a:ln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84124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3D6FB4"/>
                </a:solidFill>
                <a:latin typeface="Microsoft YaHei"/>
              </a:rPr>
              <a:t>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097280"/>
            <a:ext cx="132588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7233B"/>
                </a:solidFill>
                <a:latin typeface="Microsoft YaHei"/>
              </a:rPr>
              <a:t>用户查询 q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1280160"/>
            <a:ext cx="640080" cy="0"/>
          </a:xfrm>
          <a:prstGeom prst="line">
            <a:avLst/>
          </a:prstGeom>
          <a:ln w="2794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4760" y="1097280"/>
            <a:ext cx="114300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B8A89"/>
                </a:solidFill>
                <a:latin typeface="Microsoft YaHei"/>
              </a:rPr>
              <a:t>语义检索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1280160"/>
            <a:ext cx="640080" cy="0"/>
          </a:xfrm>
          <a:prstGeom prst="line">
            <a:avLst/>
          </a:prstGeom>
          <a:ln w="2794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87568" y="1097280"/>
            <a:ext cx="160020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D9685A"/>
                </a:solidFill>
                <a:latin typeface="Microsoft YaHei"/>
              </a:rPr>
              <a:t>隐私知识上下文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60920" y="1280160"/>
            <a:ext cx="612648" cy="0"/>
          </a:xfrm>
          <a:prstGeom prst="line">
            <a:avLst/>
          </a:prstGeom>
          <a:ln w="2794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65008" y="1097280"/>
            <a:ext cx="118872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3D6FB4"/>
                </a:solidFill>
                <a:latin typeface="Microsoft YaHei"/>
              </a:rPr>
              <a:t>本地 LLM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81160" y="1280160"/>
            <a:ext cx="594360" cy="0"/>
          </a:xfrm>
          <a:prstGeom prst="line">
            <a:avLst/>
          </a:prstGeom>
          <a:ln w="2794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85248" y="1097280"/>
            <a:ext cx="114300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500" b="1">
                <a:solidFill>
                  <a:srgbClr val="17233B"/>
                </a:solidFill>
                <a:latin typeface="Microsoft YaHei"/>
              </a:rPr>
              <a:t>安全回答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810512"/>
            <a:ext cx="1115568" cy="292608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810512"/>
            <a:ext cx="1115568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离线 · 隐私建库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176272"/>
            <a:ext cx="155448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176272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3D6FB4"/>
          </a:solidFill>
          <a:ln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2432304"/>
            <a:ext cx="347472" cy="457200"/>
          </a:xfrm>
          <a:prstGeom prst="rect">
            <a:avLst/>
          </a:prstGeom>
          <a:solidFill>
            <a:srgbClr val="FFFFFF"/>
          </a:solidFill>
          <a:ln w="1651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lded Corner 22"/>
          <p:cNvSpPr/>
          <p:nvPr/>
        </p:nvSpPr>
        <p:spPr>
          <a:xfrm>
            <a:off x="786384" y="2377440"/>
            <a:ext cx="347472" cy="457200"/>
          </a:xfrm>
          <a:prstGeom prst="foldedCorner">
            <a:avLst/>
          </a:prstGeom>
          <a:solidFill>
            <a:srgbClr val="FFFFFF"/>
          </a:solidFill>
          <a:ln w="1651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50392" y="2523744"/>
            <a:ext cx="201168" cy="0"/>
          </a:xfrm>
          <a:prstGeom prst="line">
            <a:avLst/>
          </a:prstGeom>
          <a:ln w="10160">
            <a:solidFill>
              <a:srgbClr val="3D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0392" y="2615184"/>
            <a:ext cx="201168" cy="0"/>
          </a:xfrm>
          <a:prstGeom prst="line">
            <a:avLst/>
          </a:prstGeom>
          <a:ln w="10160">
            <a:solidFill>
              <a:srgbClr val="3D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0392" y="2706624"/>
            <a:ext cx="201168" cy="0"/>
          </a:xfrm>
          <a:prstGeom prst="line">
            <a:avLst/>
          </a:prstGeom>
          <a:ln w="10160">
            <a:solidFill>
              <a:srgbClr val="3D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34440" y="2304288"/>
            <a:ext cx="658368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私有知识库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944368"/>
            <a:ext cx="1143000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多格式加载
重叠分块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31720" y="1993392"/>
            <a:ext cx="196596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31720" y="1993392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D9685A"/>
          </a:solidFill>
          <a:ln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entagon 30"/>
          <p:cNvSpPr/>
          <p:nvPr/>
        </p:nvSpPr>
        <p:spPr>
          <a:xfrm rot="10800000">
            <a:off x="2560320" y="2276856"/>
            <a:ext cx="493776" cy="530352"/>
          </a:xfrm>
          <a:prstGeom prst="homePlate">
            <a:avLst/>
          </a:prstGeom>
          <a:solidFill>
            <a:srgbClr val="FBEAE7"/>
          </a:solidFill>
          <a:ln w="1905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2295144"/>
            <a:ext cx="493776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D9685A"/>
                </a:solidFill>
                <a:latin typeface="Microsoft YaHe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2194560"/>
            <a:ext cx="1005840" cy="32004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混合敏感度感知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2779776"/>
            <a:ext cx="438912" cy="274320"/>
          </a:xfrm>
          <a:prstGeom prst="roundRect">
            <a:avLst/>
          </a:prstGeom>
          <a:solidFill>
            <a:srgbClr val="FBEAE7"/>
          </a:solidFill>
          <a:ln>
            <a:solidFill>
              <a:srgbClr val="FB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2779776"/>
            <a:ext cx="438912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9685A"/>
                </a:solidFill>
                <a:latin typeface="Microsoft YaHei"/>
              </a:rPr>
              <a:t>正则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54096" y="2779776"/>
            <a:ext cx="566928" cy="274320"/>
          </a:xfrm>
          <a:prstGeom prst="roundRect">
            <a:avLst/>
          </a:prstGeom>
          <a:solidFill>
            <a:srgbClr val="FBEAE7"/>
          </a:solidFill>
          <a:ln>
            <a:solidFill>
              <a:srgbClr val="FB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54096" y="2779776"/>
            <a:ext cx="56692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9685A"/>
                </a:solidFill>
                <a:latin typeface="Microsoft YaHei"/>
              </a:rPr>
              <a:t>关键词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75887" y="2779776"/>
            <a:ext cx="438912" cy="274320"/>
          </a:xfrm>
          <a:prstGeom prst="roundRect">
            <a:avLst/>
          </a:prstGeom>
          <a:solidFill>
            <a:srgbClr val="FBEAE7"/>
          </a:solidFill>
          <a:ln>
            <a:solidFill>
              <a:srgbClr val="FB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5887" y="2779776"/>
            <a:ext cx="438912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9685A"/>
                </a:solidFill>
                <a:latin typeface="Microsoft YaHei"/>
              </a:rPr>
              <a:t>语义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3182112"/>
            <a:ext cx="150876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100" b="1">
                <a:solidFill>
                  <a:srgbClr val="D9685A"/>
                </a:solidFill>
                <a:latin typeface="Microsoft YaHei"/>
              </a:rPr>
              <a:t>输出：敏感分数 sᵢ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2176272"/>
            <a:ext cx="169164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0" y="2176272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1B8A89"/>
          </a:solidFill>
          <a:ln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800600" y="2468880"/>
            <a:ext cx="274320" cy="310896"/>
          </a:xfrm>
          <a:prstGeom prst="line">
            <a:avLst/>
          </a:prstGeom>
          <a:ln w="25400">
            <a:solidFill>
              <a:srgbClr val="3D6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800600" y="2542032"/>
            <a:ext cx="374904" cy="237744"/>
          </a:xfrm>
          <a:prstGeom prst="line">
            <a:avLst/>
          </a:prstGeom>
          <a:ln w="2540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800600" y="2615184"/>
            <a:ext cx="475488" cy="164592"/>
          </a:xfrm>
          <a:prstGeom prst="line">
            <a:avLst/>
          </a:prstGeom>
          <a:ln w="25400">
            <a:solidFill>
              <a:srgbClr val="D99A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754880" y="2734056"/>
            <a:ext cx="100584" cy="100584"/>
          </a:xfrm>
          <a:prstGeom prst="ellipse">
            <a:avLst/>
          </a:prstGeom>
          <a:solidFill>
            <a:srgbClr val="17233B"/>
          </a:solidFill>
          <a:ln w="7620"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76672" y="2267712"/>
            <a:ext cx="713232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统一表征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2898648"/>
            <a:ext cx="1280160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L2 归一化
JL 投影 d → 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37960" y="1883664"/>
            <a:ext cx="2788920" cy="1920240"/>
          </a:xfrm>
          <a:prstGeom prst="roundRect">
            <a:avLst/>
          </a:prstGeom>
          <a:solidFill>
            <a:srgbClr val="FBEAE7"/>
          </a:solidFill>
          <a:ln w="1397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1883664"/>
            <a:ext cx="73152" cy="1920240"/>
          </a:xfrm>
          <a:prstGeom prst="roundRect">
            <a:avLst>
              <a:gd name="adj" fmla="val 12000"/>
            </a:avLst>
          </a:prstGeom>
          <a:solidFill>
            <a:srgbClr val="D9685A"/>
          </a:solidFill>
          <a:ln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93992" y="2130552"/>
            <a:ext cx="749808" cy="274320"/>
          </a:xfrm>
          <a:prstGeom prst="roundRect">
            <a:avLst/>
          </a:prstGeom>
          <a:solidFill>
            <a:srgbClr val="D9685A"/>
          </a:solidFill>
          <a:ln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93992" y="2130552"/>
            <a:ext cx="74980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核心机制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62672" y="2057400"/>
            <a:ext cx="1444752" cy="56692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600" b="1">
                <a:solidFill>
                  <a:srgbClr val="17233B"/>
                </a:solidFill>
                <a:latin typeface="Microsoft YaHei"/>
              </a:rPr>
              <a:t>敏感度驱动的
动态解析高斯机制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2852928"/>
            <a:ext cx="502920" cy="23774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1">
                <a:solidFill>
                  <a:srgbClr val="D9685A"/>
                </a:solidFill>
                <a:latin typeface="Microsoft YaHei"/>
              </a:rPr>
              <a:t>高敏感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424927" y="2971800"/>
            <a:ext cx="969265" cy="0"/>
          </a:xfrm>
          <a:prstGeom prst="line">
            <a:avLst/>
          </a:prstGeom>
          <a:ln w="2540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49056" y="2834640"/>
            <a:ext cx="685800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r"/>
            <a:r>
              <a:rPr sz="1000" b="1">
                <a:solidFill>
                  <a:srgbClr val="D9685A"/>
                </a:solidFill>
                <a:latin typeface="Microsoft YaHei"/>
              </a:rPr>
              <a:t>低 εᵢ  ·  大 Δᵢ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3136" y="3264408"/>
            <a:ext cx="224028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17233B"/>
                </a:solidFill>
                <a:latin typeface="Microsoft YaHei"/>
              </a:rPr>
              <a:t>zᵢ ~ 𝒩(0, (σᵢ·α/√m)²I)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2176272"/>
            <a:ext cx="2084831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601200" y="2176272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4B9560"/>
          </a:solidFill>
          <a:ln>
            <a:solidFill>
              <a:srgbClr val="4B9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9875520" y="2331720"/>
            <a:ext cx="292608" cy="237743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875520" y="2569463"/>
            <a:ext cx="347472" cy="201169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68128" y="2331720"/>
            <a:ext cx="347472" cy="16459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222992" y="2496312"/>
            <a:ext cx="292608" cy="27432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222992" y="2770632"/>
            <a:ext cx="338328" cy="3657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515600" y="2496312"/>
            <a:ext cx="45720" cy="31089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820656" y="2514599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113264" y="2276856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168128" y="2715768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460736" y="2441448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506456" y="2752344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25328" y="2267712"/>
            <a:ext cx="868680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隐私向量索引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93808" y="2907792"/>
            <a:ext cx="1325880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最终归一化
HNSW 建图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057400" y="2816352"/>
            <a:ext cx="274320" cy="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97680" y="2816352"/>
            <a:ext cx="274320" cy="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263640" y="2816352"/>
            <a:ext cx="274320" cy="0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326880" y="2816352"/>
            <a:ext cx="274320" cy="0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02920" y="4069080"/>
            <a:ext cx="1115568" cy="292608"/>
          </a:xfrm>
          <a:prstGeom prst="roundRect">
            <a:avLst/>
          </a:prstGeom>
          <a:solidFill>
            <a:srgbClr val="1B8A89"/>
          </a:solidFill>
          <a:ln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4069080"/>
            <a:ext cx="1115568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在线 · 检索生成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2920" y="4443984"/>
            <a:ext cx="1965960" cy="1170432"/>
          </a:xfrm>
          <a:prstGeom prst="roundRect">
            <a:avLst/>
          </a:prstGeom>
          <a:solidFill>
            <a:srgbClr val="E3F3F1"/>
          </a:solidFill>
          <a:ln w="1397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" y="4617720"/>
            <a:ext cx="146304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① 查询同构映射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" y="5010912"/>
            <a:ext cx="141732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B8A89"/>
                </a:solidFill>
                <a:latin typeface="Microsoft YaHei"/>
              </a:rPr>
              <a:t>q → Embedding → JL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" y="5285232"/>
            <a:ext cx="15544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与文档共享同一投影矩阵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743200" y="4443984"/>
            <a:ext cx="1965960" cy="1170432"/>
          </a:xfrm>
          <a:prstGeom prst="roundRect">
            <a:avLst/>
          </a:prstGeom>
          <a:solidFill>
            <a:srgbClr val="E9F5EC"/>
          </a:solidFill>
          <a:ln w="13970">
            <a:solidFill>
              <a:srgbClr val="4B9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2980944" y="4736592"/>
            <a:ext cx="292607" cy="237744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980944" y="4974336"/>
            <a:ext cx="347471" cy="201168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273551" y="4736592"/>
            <a:ext cx="347473" cy="164591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328415" y="4901183"/>
            <a:ext cx="292609" cy="274321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328415" y="5175504"/>
            <a:ext cx="338329" cy="36575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621024" y="4901183"/>
            <a:ext cx="45720" cy="31089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2926079" y="4919472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3218687" y="4681728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73551" y="5120640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566160" y="4846320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611879" y="5157216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85032" y="4599432"/>
            <a:ext cx="84124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② HNSW Top‑K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75887" y="5029200"/>
            <a:ext cx="822960" cy="23774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1">
                <a:solidFill>
                  <a:srgbClr val="4B9560"/>
                </a:solidFill>
                <a:latin typeface="Microsoft YaHei"/>
              </a:rPr>
              <a:t>近似近邻检索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983480" y="4443984"/>
            <a:ext cx="2057400" cy="1170432"/>
          </a:xfrm>
          <a:prstGeom prst="roundRect">
            <a:avLst/>
          </a:prstGeom>
          <a:solidFill>
            <a:srgbClr val="FFF3D8"/>
          </a:solidFill>
          <a:ln w="1397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39512" y="4617720"/>
            <a:ext cx="132588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③ 上下文构建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239512" y="5010912"/>
            <a:ext cx="786384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239512" y="5010912"/>
            <a:ext cx="786384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99A32"/>
                </a:solidFill>
                <a:latin typeface="Microsoft YaHei"/>
              </a:rPr>
              <a:t>Top‑K 片段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89904" y="5010912"/>
            <a:ext cx="658368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89904" y="5010912"/>
            <a:ext cx="65836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99A32"/>
                </a:solidFill>
                <a:latin typeface="Microsoft YaHei"/>
              </a:rPr>
              <a:t>Identity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39512" y="5321808"/>
            <a:ext cx="141732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只暴露必要的检索结果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315200" y="4443984"/>
            <a:ext cx="1965960" cy="1170432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562088" y="4718304"/>
            <a:ext cx="694944" cy="512064"/>
          </a:xfrm>
          <a:prstGeom prst="roundRect">
            <a:avLst/>
          </a:prstGeom>
          <a:solidFill>
            <a:srgbClr val="E9F0FA"/>
          </a:solidFill>
          <a:ln w="1778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62088" y="4718304"/>
            <a:ext cx="694944" cy="51206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3D6FB4"/>
                </a:solidFill>
                <a:latin typeface="Microsoft YaHei"/>
              </a:rPr>
              <a:t>LLM</a:t>
            </a:r>
          </a:p>
        </p:txBody>
      </p:sp>
      <p:sp>
        <p:nvSpPr>
          <p:cNvPr id="107" name="Oval 106"/>
          <p:cNvSpPr/>
          <p:nvPr/>
        </p:nvSpPr>
        <p:spPr>
          <a:xfrm>
            <a:off x="7479792" y="482803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257031" y="482803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79792" y="510235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257031" y="510235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66760" y="4636008"/>
            <a:ext cx="68580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④ 本地生成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39327" y="5047488"/>
            <a:ext cx="73152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1">
                <a:solidFill>
                  <a:srgbClr val="3D6FB4"/>
                </a:solidFill>
                <a:latin typeface="Microsoft YaHei"/>
              </a:rPr>
              <a:t>知识增强回答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9555480" y="4443984"/>
            <a:ext cx="2130552" cy="11704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9555480" y="4443984"/>
            <a:ext cx="73152" cy="1170432"/>
          </a:xfrm>
          <a:prstGeom prst="roundRect">
            <a:avLst>
              <a:gd name="adj" fmla="val 12000"/>
            </a:avLst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802368" y="4617720"/>
            <a:ext cx="129844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7233B"/>
                </a:solidFill>
                <a:latin typeface="Microsoft YaHei"/>
              </a:rPr>
              <a:t>⑤ 输出与审计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802368" y="5010912"/>
            <a:ext cx="1417320" cy="4389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回答 + 检索来源
隐私 / 效用指标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468880" y="5029200"/>
            <a:ext cx="274320" cy="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09160" y="5029200"/>
            <a:ext cx="274320" cy="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040880" y="5029200"/>
            <a:ext cx="274320" cy="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281160" y="5029200"/>
            <a:ext cx="274320" cy="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3749039" y="3502152"/>
            <a:ext cx="6903721" cy="914400"/>
          </a:xfrm>
          <a:prstGeom prst="line">
            <a:avLst/>
          </a:prstGeom>
          <a:ln w="16510">
            <a:solidFill>
              <a:srgbClr val="4B95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793992" y="3840480"/>
            <a:ext cx="73152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4B9560"/>
                </a:solidFill>
                <a:latin typeface="Microsoft YaHei"/>
              </a:rPr>
              <a:t>检索索引</a:t>
            </a:r>
          </a:p>
        </p:txBody>
      </p:sp>
      <p:cxnSp>
        <p:nvCxnSpPr>
          <p:cNvPr id="123" name="Connector 122"/>
          <p:cNvCxnSpPr/>
          <p:nvPr/>
        </p:nvCxnSpPr>
        <p:spPr>
          <a:xfrm flipH="1">
            <a:off x="1490472" y="3502152"/>
            <a:ext cx="3995928" cy="914400"/>
          </a:xfrm>
          <a:prstGeom prst="line">
            <a:avLst/>
          </a:prstGeom>
          <a:ln w="16510">
            <a:solidFill>
              <a:srgbClr val="1B8A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3090672" y="3822191"/>
            <a:ext cx="86868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B8A89"/>
                </a:solidFill>
                <a:latin typeface="Microsoft YaHei"/>
              </a:rPr>
              <a:t>共享投影 R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02920" y="5925312"/>
            <a:ext cx="11183112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566928" y="6144768"/>
            <a:ext cx="502920" cy="274320"/>
          </a:xfrm>
          <a:prstGeom prst="roundRect">
            <a:avLst/>
          </a:prstGeom>
          <a:solidFill>
            <a:srgbClr val="FBEAE7"/>
          </a:solidFill>
          <a:ln>
            <a:solidFill>
              <a:srgbClr val="FB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6928" y="6144768"/>
            <a:ext cx="50292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D9685A"/>
                </a:solidFill>
                <a:latin typeface="Microsoft YaHei"/>
              </a:rPr>
              <a:t>隐私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43000" y="6117336"/>
            <a:ext cx="1874519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分块级动态 (εᵢ, δ)-DP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291840" y="6144768"/>
            <a:ext cx="502920" cy="274320"/>
          </a:xfrm>
          <a:prstGeom prst="roundRect">
            <a:avLst/>
          </a:prstGeom>
          <a:solidFill>
            <a:srgbClr val="E3F3F1"/>
          </a:solidFill>
          <a:ln>
            <a:solidFill>
              <a:srgbClr val="E3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291840" y="6144768"/>
            <a:ext cx="50292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B8A89"/>
                </a:solidFill>
                <a:latin typeface="Microsoft YaHei"/>
              </a:rPr>
              <a:t>效用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67912" y="6117336"/>
            <a:ext cx="196596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JL 保距 + 维度校正噪声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172200" y="6144768"/>
            <a:ext cx="502920" cy="274320"/>
          </a:xfrm>
          <a:prstGeom prst="roundRect">
            <a:avLst/>
          </a:prstGeom>
          <a:solidFill>
            <a:srgbClr val="E9F5EC"/>
          </a:solidFill>
          <a:ln>
            <a:solidFill>
              <a:srgbClr val="E9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172200" y="6144768"/>
            <a:ext cx="50292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4B9560"/>
                </a:solidFill>
                <a:latin typeface="Microsoft YaHei"/>
              </a:rPr>
              <a:t>效率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48272" y="6117336"/>
            <a:ext cx="178308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HNSW 亚线性近似检索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887968" y="6144768"/>
            <a:ext cx="502920" cy="274320"/>
          </a:xfrm>
          <a:prstGeom prst="roundRect">
            <a:avLst/>
          </a:prstGeom>
          <a:solidFill>
            <a:srgbClr val="E9F0FA"/>
          </a:solidFill>
          <a:ln>
            <a:solidFill>
              <a:srgbClr val="E9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887968" y="6144768"/>
            <a:ext cx="50292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3D6FB4"/>
                </a:solidFill>
                <a:latin typeface="Microsoft YaHei"/>
              </a:rPr>
              <a:t>边界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464040" y="6117336"/>
            <a:ext cx="192024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原文与 LLM 均保持本地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300" b="1">
                <a:solidFill>
                  <a:srgbClr val="1B8A89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46888"/>
            <a:ext cx="7863840" cy="5029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2500" b="1">
                <a:solidFill>
                  <a:srgbClr val="17233B"/>
                </a:solidFill>
                <a:latin typeface="Microsoft YaHei"/>
              </a:rPr>
              <a:t>核心原理：敏感度如何驱动噪声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2520" y="310896"/>
            <a:ext cx="288036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从文本风险到分块级隐私预算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9E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097280"/>
            <a:ext cx="2788920" cy="5166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97280"/>
            <a:ext cx="73152" cy="5166360"/>
          </a:xfrm>
          <a:prstGeom prst="roundRect">
            <a:avLst>
              <a:gd name="adj" fmla="val 12000"/>
            </a:avLst>
          </a:prstGeom>
          <a:solidFill>
            <a:srgbClr val="D9685A"/>
          </a:solidFill>
          <a:ln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53312"/>
            <a:ext cx="219456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800" b="1">
                <a:solidFill>
                  <a:srgbClr val="17233B"/>
                </a:solidFill>
                <a:latin typeface="Microsoft YaHei"/>
              </a:rPr>
              <a:t>A. 混合敏感度评估</a:t>
            </a:r>
          </a:p>
        </p:txBody>
      </p:sp>
      <p:sp>
        <p:nvSpPr>
          <p:cNvPr id="9" name="Pentagon 8"/>
          <p:cNvSpPr/>
          <p:nvPr/>
        </p:nvSpPr>
        <p:spPr>
          <a:xfrm rot="10800000">
            <a:off x="2679192" y="1298448"/>
            <a:ext cx="493776" cy="530352"/>
          </a:xfrm>
          <a:prstGeom prst="homePlate">
            <a:avLst/>
          </a:prstGeom>
          <a:solidFill>
            <a:srgbClr val="FBEAE7"/>
          </a:solidFill>
          <a:ln w="1905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316736"/>
            <a:ext cx="493776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D9685A"/>
                </a:solidFill>
                <a:latin typeface="Microsoft YaHei"/>
              </a:rP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65960"/>
            <a:ext cx="2240280" cy="71323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2249424"/>
            <a:ext cx="128016" cy="128016"/>
          </a:xfrm>
          <a:prstGeom prst="ellipse">
            <a:avLst/>
          </a:prstGeom>
          <a:solidFill>
            <a:srgbClr val="D9685A"/>
          </a:solidFill>
          <a:ln w="762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075688"/>
            <a:ext cx="1371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33B"/>
                </a:solidFill>
                <a:latin typeface="Microsoft YaHei"/>
              </a:rPr>
              <a:t>直接标识符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40864"/>
            <a:ext cx="160020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身份证 / 手机 / 银行卡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34639"/>
            <a:ext cx="2240280" cy="71323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3118103"/>
            <a:ext cx="128016" cy="12801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944368"/>
            <a:ext cx="1371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33B"/>
                </a:solidFill>
                <a:latin typeface="Microsoft YaHei"/>
              </a:rPr>
              <a:t>隐私关键词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09544"/>
            <a:ext cx="160020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个人、财务、企业机密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03320"/>
            <a:ext cx="2240280" cy="713232"/>
          </a:xfrm>
          <a:prstGeom prst="roundRect">
            <a:avLst/>
          </a:prstGeom>
          <a:solidFill>
            <a:srgbClr val="F7F8FA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986783"/>
            <a:ext cx="128016" cy="128016"/>
          </a:xfrm>
          <a:prstGeom prst="ellipse">
            <a:avLst/>
          </a:prstGeom>
          <a:solidFill>
            <a:srgbClr val="3D6FB4"/>
          </a:solidFill>
          <a:ln w="762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813048"/>
            <a:ext cx="137160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200" b="1">
                <a:solidFill>
                  <a:srgbClr val="17233B"/>
                </a:solidFill>
                <a:latin typeface="Microsoft YaHei"/>
              </a:rPr>
              <a:t>上下文语义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78224"/>
            <a:ext cx="160020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启发式 + 零样本分类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92807" y="4498848"/>
            <a:ext cx="0" cy="393192"/>
          </a:xfrm>
          <a:prstGeom prst="line">
            <a:avLst/>
          </a:prstGeom>
          <a:ln w="2794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216152" y="4892040"/>
            <a:ext cx="1353312" cy="804672"/>
          </a:xfrm>
          <a:prstGeom prst="ellipse">
            <a:avLst/>
          </a:prstGeom>
          <a:solidFill>
            <a:srgbClr val="FBEAE7"/>
          </a:solidFill>
          <a:ln w="1905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7592" y="4992624"/>
            <a:ext cx="1170432" cy="56692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500" b="1">
                <a:solidFill>
                  <a:srgbClr val="D9685A"/>
                </a:solidFill>
                <a:latin typeface="Microsoft YaHei"/>
              </a:rPr>
              <a:t>敏感分数
sᵢ ∈ [0,1]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870448"/>
            <a:ext cx="1874519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分块级，而非整库统一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11880" y="1097280"/>
            <a:ext cx="3822191" cy="5166360"/>
          </a:xfrm>
          <a:prstGeom prst="roundRect">
            <a:avLst/>
          </a:prstGeom>
          <a:solidFill>
            <a:srgbClr val="FBEAE7"/>
          </a:solidFill>
          <a:ln w="1397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11880" y="1097280"/>
            <a:ext cx="73152" cy="5166360"/>
          </a:xfrm>
          <a:prstGeom prst="roundRect">
            <a:avLst>
              <a:gd name="adj" fmla="val 12000"/>
            </a:avLst>
          </a:prstGeom>
          <a:solidFill>
            <a:srgbClr val="D9685A"/>
          </a:solidFill>
          <a:ln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1353312"/>
            <a:ext cx="320040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800" b="1">
                <a:solidFill>
                  <a:srgbClr val="17233B"/>
                </a:solidFill>
                <a:latin typeface="Microsoft YaHei"/>
              </a:rPr>
              <a:t>B. 动态隐私预算与局部敏感度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1938528"/>
            <a:ext cx="32004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100" b="1">
                <a:solidFill>
                  <a:srgbClr val="D9685A"/>
                </a:solidFill>
                <a:latin typeface="Microsoft YaHei"/>
              </a:rPr>
              <a:t>εᵢ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315968" y="2103120"/>
            <a:ext cx="0" cy="1664208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15968" y="3767328"/>
            <a:ext cx="2587752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44768" y="3858768"/>
            <a:ext cx="77724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敏感度 sᵢ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53128" y="2304288"/>
            <a:ext cx="438912" cy="237744"/>
          </a:xfrm>
          <a:prstGeom prst="line">
            <a:avLst/>
          </a:prstGeom>
          <a:ln w="3048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92040" y="2542032"/>
            <a:ext cx="457200" cy="310896"/>
          </a:xfrm>
          <a:prstGeom prst="line">
            <a:avLst/>
          </a:prstGeom>
          <a:ln w="3048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349240" y="2852928"/>
            <a:ext cx="457200" cy="338328"/>
          </a:xfrm>
          <a:prstGeom prst="line">
            <a:avLst/>
          </a:prstGeom>
          <a:ln w="3048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806440" y="3191256"/>
            <a:ext cx="521208" cy="301752"/>
          </a:xfrm>
          <a:prstGeom prst="line">
            <a:avLst/>
          </a:prstGeom>
          <a:ln w="3048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398264" y="2249424"/>
            <a:ext cx="109728" cy="109728"/>
          </a:xfrm>
          <a:prstGeom prst="ellipse">
            <a:avLst/>
          </a:prstGeom>
          <a:solidFill>
            <a:srgbClr val="D9685A"/>
          </a:solidFill>
          <a:ln w="762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37176" y="2487168"/>
            <a:ext cx="109728" cy="109728"/>
          </a:xfrm>
          <a:prstGeom prst="ellipse">
            <a:avLst/>
          </a:prstGeom>
          <a:solidFill>
            <a:srgbClr val="D9685A"/>
          </a:solidFill>
          <a:ln w="762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94376" y="2798064"/>
            <a:ext cx="109728" cy="109728"/>
          </a:xfrm>
          <a:prstGeom prst="ellipse">
            <a:avLst/>
          </a:prstGeom>
          <a:solidFill>
            <a:srgbClr val="D9685A"/>
          </a:solidFill>
          <a:ln w="762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51576" y="3136392"/>
            <a:ext cx="109728" cy="109728"/>
          </a:xfrm>
          <a:prstGeom prst="ellipse">
            <a:avLst/>
          </a:prstGeom>
          <a:solidFill>
            <a:srgbClr val="D9685A"/>
          </a:solidFill>
          <a:ln w="762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72784" y="3438144"/>
            <a:ext cx="109728" cy="109728"/>
          </a:xfrm>
          <a:prstGeom prst="ellipse">
            <a:avLst/>
          </a:prstGeom>
          <a:solidFill>
            <a:srgbClr val="D9685A"/>
          </a:solidFill>
          <a:ln w="7620">
            <a:solidFill>
              <a:srgbClr val="D96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15968" y="4251960"/>
            <a:ext cx="246888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100" b="1">
                <a:solidFill>
                  <a:srgbClr val="1B8A89"/>
                </a:solidFill>
                <a:latin typeface="Microsoft YaHei"/>
              </a:rPr>
              <a:t>低敏感：ε 大，保护较弱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4590288"/>
            <a:ext cx="246888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100" b="1">
                <a:solidFill>
                  <a:srgbClr val="D9685A"/>
                </a:solidFill>
                <a:latin typeface="Microsoft YaHei"/>
              </a:rPr>
              <a:t>高敏感：ε 小，保护更强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96512" y="5074920"/>
            <a:ext cx="2907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5157216"/>
            <a:ext cx="2578608" cy="53035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7233B"/>
                </a:solidFill>
                <a:latin typeface="Microsoft YaHei"/>
              </a:rPr>
              <a:t>εᵢ = 1.25 + 8.75(1−sᵢ)¹·⁵
Δᵢ = 0.25 + 0.25sᵢ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54112" y="1097280"/>
            <a:ext cx="3931920" cy="5166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54112" y="1097280"/>
            <a:ext cx="73152" cy="5166360"/>
          </a:xfrm>
          <a:prstGeom prst="roundRect">
            <a:avLst>
              <a:gd name="adj" fmla="val 12000"/>
            </a:avLst>
          </a:prstGeom>
          <a:solidFill>
            <a:srgbClr val="1B8A89"/>
          </a:solidFill>
          <a:ln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0" y="1353312"/>
            <a:ext cx="324612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800" b="1">
                <a:solidFill>
                  <a:srgbClr val="17233B"/>
                </a:solidFill>
                <a:latin typeface="Microsoft YaHei"/>
              </a:rPr>
              <a:t>C. 解析高斯校准与效用控制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01583" y="1938528"/>
            <a:ext cx="82296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1100" b="1">
                <a:solidFill>
                  <a:srgbClr val="D9685A"/>
                </a:solidFill>
                <a:latin typeface="Microsoft YaHei"/>
              </a:rPr>
              <a:t>解析求解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1874519"/>
            <a:ext cx="1234440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700" b="1">
                <a:solidFill>
                  <a:srgbClr val="17233B"/>
                </a:solidFill>
                <a:latin typeface="Microsoft YaHei"/>
              </a:rPr>
              <a:t>g(u*) = δ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259568" y="2057400"/>
            <a:ext cx="457200" cy="0"/>
          </a:xfrm>
          <a:prstGeom prst="line">
            <a:avLst/>
          </a:prstGeom>
          <a:ln w="2540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716768" y="1874519"/>
            <a:ext cx="749808" cy="36576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r"/>
            <a:r>
              <a:rPr sz="1300" b="1">
                <a:solidFill>
                  <a:srgbClr val="D9685A"/>
                </a:solidFill>
                <a:latin typeface="Microsoft YaHei"/>
              </a:rPr>
              <a:t>σᵢ = u*Δᵢ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38160" y="3822191"/>
            <a:ext cx="3154680" cy="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710928" y="2487168"/>
            <a:ext cx="0" cy="139903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732520" y="3593592"/>
            <a:ext cx="320040" cy="173736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52560" y="3127248"/>
            <a:ext cx="256032" cy="466344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308592" y="2688336"/>
            <a:ext cx="219456" cy="438912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528048" y="2551176"/>
            <a:ext cx="182880" cy="13716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10928" y="2551176"/>
            <a:ext cx="182880" cy="137160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893808" y="2688336"/>
            <a:ext cx="219456" cy="438912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13264" y="3127248"/>
            <a:ext cx="256032" cy="466344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369296" y="3593592"/>
            <a:ext cx="320040" cy="173736"/>
          </a:xfrm>
          <a:prstGeom prst="line">
            <a:avLst/>
          </a:prstGeom>
          <a:ln w="26670">
            <a:solidFill>
              <a:srgbClr val="1B8A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366760" y="3566160"/>
            <a:ext cx="338328" cy="182879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705088" y="3291840"/>
            <a:ext cx="320040" cy="274320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025128" y="3017520"/>
            <a:ext cx="329184" cy="274320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354312" y="2907792"/>
            <a:ext cx="356616" cy="109728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10928" y="2907792"/>
            <a:ext cx="356616" cy="109728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067544" y="3017520"/>
            <a:ext cx="329184" cy="274320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396728" y="3291840"/>
            <a:ext cx="320040" cy="274320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716768" y="3566160"/>
            <a:ext cx="338328" cy="182879"/>
          </a:xfrm>
          <a:prstGeom prst="line">
            <a:avLst/>
          </a:prstGeom>
          <a:ln w="26670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156448" y="4133087"/>
            <a:ext cx="1143000" cy="274320"/>
          </a:xfrm>
          <a:prstGeom prst="roundRect">
            <a:avLst/>
          </a:prstGeom>
          <a:solidFill>
            <a:srgbClr val="E3F3F1"/>
          </a:solidFill>
          <a:ln>
            <a:solidFill>
              <a:srgbClr val="E3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56448" y="4133087"/>
            <a:ext cx="1143000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B8A89"/>
                </a:solidFill>
                <a:latin typeface="Microsoft YaHei"/>
              </a:rPr>
              <a:t>低敏感 / 小噪声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64040" y="4133087"/>
            <a:ext cx="1207008" cy="274320"/>
          </a:xfrm>
          <a:prstGeom prst="roundRect">
            <a:avLst/>
          </a:prstGeom>
          <a:solidFill>
            <a:srgbClr val="FBEAE7"/>
          </a:solidFill>
          <a:ln>
            <a:solidFill>
              <a:srgbClr val="FB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64040" y="4133087"/>
            <a:ext cx="1207008" cy="27432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D9685A"/>
                </a:solidFill>
                <a:latin typeface="Microsoft YaHei"/>
              </a:rPr>
              <a:t>高敏感 / 大噪声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56448" y="4681728"/>
            <a:ext cx="3063240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7233B"/>
                </a:solidFill>
                <a:latin typeface="Microsoft YaHei"/>
              </a:rPr>
              <a:t>维度校正避免高维噪声能量爆炸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75320" y="5074920"/>
            <a:ext cx="2816352" cy="713232"/>
          </a:xfrm>
          <a:prstGeom prst="roundRect">
            <a:avLst/>
          </a:prstGeom>
          <a:solidFill>
            <a:srgbClr val="E3F3F1"/>
          </a:solidFill>
          <a:ln w="1270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58200" y="5157216"/>
            <a:ext cx="2450592" cy="53035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7233B"/>
                </a:solidFill>
                <a:latin typeface="Microsoft YaHei"/>
              </a:rPr>
              <a:t>σᵢ,dim = σᵢ·α / √m
zᵢ ~ 𝒩(0, σ²ᵢ,dim I)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291840" y="3657600"/>
            <a:ext cx="320040" cy="0"/>
          </a:xfrm>
          <a:prstGeom prst="line">
            <a:avLst/>
          </a:prstGeom>
          <a:ln w="29209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34072" y="3657600"/>
            <a:ext cx="320040" cy="0"/>
          </a:xfrm>
          <a:prstGeom prst="line">
            <a:avLst/>
          </a:prstGeom>
          <a:ln w="29209">
            <a:solidFill>
              <a:srgbClr val="D96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隐私增强 DP-RAG 技术路线与原理图</dc:title>
  <dc:subject>全部由 PowerPoint 原生可编辑形状构成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