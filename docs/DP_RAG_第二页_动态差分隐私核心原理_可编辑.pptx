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91440"/>
            <a:ext cx="932688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7202B"/>
                </a:solidFill>
                <a:latin typeface="Microsoft YaHei"/>
              </a:rPr>
              <a:t>敏感度驱动的动态差分隐私保护机制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48056"/>
            <a:ext cx="100584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0">
                <a:solidFill>
                  <a:srgbClr val="5D6875"/>
                </a:solidFill>
                <a:latin typeface="Microsoft YaHei"/>
              </a:rPr>
              <a:t>根据文档分块的隐私风险动态调整隐私预算、局部敏感度和噪声强度，实现差异化语义保护与检索效用控制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" y="749808"/>
            <a:ext cx="11823192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896112"/>
            <a:ext cx="9372600" cy="4965192"/>
          </a:xfrm>
          <a:prstGeom prst="roundRect">
            <a:avLst/>
          </a:prstGeom>
          <a:solidFill>
            <a:srgbClr val="F2F7FD"/>
          </a:solidFill>
          <a:ln w="13335"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10928" y="896112"/>
            <a:ext cx="2295144" cy="4965192"/>
          </a:xfrm>
          <a:prstGeom prst="roundRect">
            <a:avLst/>
          </a:prstGeom>
          <a:solidFill>
            <a:srgbClr val="F6F1FB"/>
          </a:solidFill>
          <a:ln w="13335">
            <a:solidFill>
              <a:srgbClr val="653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960120"/>
            <a:ext cx="274320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2468B2"/>
                </a:solidFill>
                <a:latin typeface="Microsoft YaHei"/>
              </a:rPr>
              <a:t>动态隐私保护原理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8128" y="960120"/>
            <a:ext cx="138988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65379F"/>
                </a:solidFill>
                <a:latin typeface="Microsoft YaHei"/>
              </a:rPr>
              <a:t>方法特性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325880"/>
            <a:ext cx="25603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371600"/>
            <a:ext cx="2340863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2468B2"/>
                </a:solidFill>
                <a:latin typeface="Microsoft YaHei"/>
              </a:rPr>
              <a:t>① 分块级敏感度评估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10512"/>
            <a:ext cx="5303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2"/>
            <a:ext cx="530352" cy="31089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2468B2"/>
                </a:solidFill>
                <a:latin typeface="Microsoft YaHei"/>
              </a:rPr>
              <a:t>分块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25296" y="1810512"/>
            <a:ext cx="5303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1810512"/>
            <a:ext cx="530352" cy="31089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D59B31"/>
                </a:solidFill>
                <a:latin typeface="Microsoft YaHei"/>
              </a:rPr>
              <a:t>分块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6231" y="1810512"/>
            <a:ext cx="53035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6231" y="1810512"/>
            <a:ext cx="530352" cy="31089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B33A3A"/>
                </a:solidFill>
                <a:latin typeface="Microsoft YaHei"/>
              </a:rPr>
              <a:t>分块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1847088"/>
            <a:ext cx="228600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7202B"/>
                </a:solidFill>
                <a:latin typeface="Microsoft YaHei"/>
              </a:rPr>
              <a:t>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64208" y="2176272"/>
            <a:ext cx="0" cy="219456"/>
          </a:xfrm>
          <a:prstGeom prst="line">
            <a:avLst/>
          </a:prstGeom>
          <a:ln w="1270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8" y="2423160"/>
            <a:ext cx="2084831" cy="36576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423160"/>
            <a:ext cx="2048256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02B"/>
                </a:solidFill>
                <a:latin typeface="Microsoft YaHei"/>
              </a:rPr>
              <a:t>规则匹配 + 关键词 + 语义判断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3017520"/>
            <a:ext cx="1792224" cy="0"/>
          </a:xfrm>
          <a:prstGeom prst="line">
            <a:avLst/>
          </a:prstGeom>
          <a:ln w="27940">
            <a:solidFill>
              <a:srgbClr val="68A7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27632" y="3017520"/>
            <a:ext cx="914400" cy="0"/>
          </a:xfrm>
          <a:prstGeom prst="line">
            <a:avLst/>
          </a:prstGeom>
          <a:ln w="2794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965960" y="2953512"/>
            <a:ext cx="128016" cy="128016"/>
          </a:xfrm>
          <a:prstGeom prst="ellipse">
            <a:avLst/>
          </a:prstGeom>
          <a:solidFill>
            <a:srgbClr val="17202B"/>
          </a:solidFill>
          <a:ln w="7620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54096"/>
            <a:ext cx="530352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267A3F"/>
                </a:solidFill>
                <a:latin typeface="Microsoft YaHei"/>
              </a:rPr>
              <a:t>低敏感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3054096"/>
            <a:ext cx="530352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B33A3A"/>
                </a:solidFill>
                <a:latin typeface="Microsoft YaHei"/>
              </a:rPr>
              <a:t>高敏感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2807208"/>
            <a:ext cx="192024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9" b="0">
                <a:solidFill>
                  <a:srgbClr val="5D6875"/>
                </a:solidFill>
                <a:latin typeface="Microsoft YaHei"/>
              </a:rPr>
              <a:t>原始分数 rᵢ → 归一化敏感度 sᵢ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2" y="1325880"/>
            <a:ext cx="29077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371600"/>
            <a:ext cx="2688336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267A3F"/>
                </a:solidFill>
                <a:latin typeface="Microsoft YaHei"/>
              </a:rPr>
              <a:t>② 动态隐私参数映射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456432" y="1764792"/>
            <a:ext cx="0" cy="1088136"/>
          </a:xfrm>
          <a:prstGeom prst="line">
            <a:avLst/>
          </a:prstGeom>
          <a:ln w="10160">
            <a:solidFill>
              <a:srgbClr val="5D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56432" y="2852928"/>
            <a:ext cx="2194560" cy="0"/>
          </a:xfrm>
          <a:prstGeom prst="line">
            <a:avLst/>
          </a:prstGeom>
          <a:ln w="10160">
            <a:solidFill>
              <a:srgbClr val="5D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0" y="2871216"/>
            <a:ext cx="210312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5D6875"/>
                </a:solidFill>
                <a:latin typeface="Microsoft YaHei"/>
              </a:rPr>
              <a:t>sᵢ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93592" y="1901952"/>
            <a:ext cx="384047" cy="91440"/>
          </a:xfrm>
          <a:prstGeom prst="line">
            <a:avLst/>
          </a:prstGeom>
          <a:ln w="2159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77639" y="1993392"/>
            <a:ext cx="393193" cy="182880"/>
          </a:xfrm>
          <a:prstGeom prst="line">
            <a:avLst/>
          </a:prstGeom>
          <a:ln w="2159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70832" y="2176272"/>
            <a:ext cx="402336" cy="256032"/>
          </a:xfrm>
          <a:prstGeom prst="line">
            <a:avLst/>
          </a:prstGeom>
          <a:ln w="2159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73168" y="2432304"/>
            <a:ext cx="466344" cy="256032"/>
          </a:xfrm>
          <a:prstGeom prst="line">
            <a:avLst/>
          </a:prstGeom>
          <a:ln w="2159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593592" y="2542032"/>
            <a:ext cx="384047" cy="118872"/>
          </a:xfrm>
          <a:prstGeom prst="line">
            <a:avLst/>
          </a:prstGeom>
          <a:ln w="2159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77639" y="2386584"/>
            <a:ext cx="393193" cy="155448"/>
          </a:xfrm>
          <a:prstGeom prst="line">
            <a:avLst/>
          </a:prstGeom>
          <a:ln w="2159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70832" y="2176272"/>
            <a:ext cx="402336" cy="210312"/>
          </a:xfrm>
          <a:prstGeom prst="line">
            <a:avLst/>
          </a:prstGeom>
          <a:ln w="2159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773168" y="1938528"/>
            <a:ext cx="466344" cy="237744"/>
          </a:xfrm>
          <a:prstGeom prst="line">
            <a:avLst/>
          </a:prstGeom>
          <a:ln w="2159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93792" y="2679192"/>
            <a:ext cx="384048" cy="17373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B33A3A"/>
                </a:solidFill>
                <a:latin typeface="Microsoft YaHei"/>
              </a:rPr>
              <a:t>εᵢ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792" y="1828800"/>
            <a:ext cx="384048" cy="17373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267A3F"/>
                </a:solidFill>
                <a:latin typeface="Microsoft YaHei"/>
              </a:rPr>
              <a:t>Δᵢ 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2990088"/>
            <a:ext cx="2103120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17202B"/>
                </a:solidFill>
                <a:latin typeface="Microsoft YaHei"/>
              </a:rPr>
              <a:t>εᵢ = 1.25 + 8.75(1−sᵢ)¹·⁵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22191" y="3154680"/>
            <a:ext cx="1627632" cy="15544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17202B"/>
                </a:solidFill>
                <a:latin typeface="Microsoft YaHei"/>
              </a:rPr>
              <a:t>Δᵢ = 0.25 + 0.25sᵢ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8" y="1325880"/>
            <a:ext cx="309067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5936" y="1371600"/>
            <a:ext cx="2871215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267A3F"/>
                </a:solidFill>
                <a:latin typeface="Microsoft YaHei"/>
              </a:rPr>
              <a:t>③ 差异化高斯噪声分配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6437376" y="2542032"/>
            <a:ext cx="111922" cy="73152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549298" y="2377440"/>
            <a:ext cx="111923" cy="164592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61221" y="2176272"/>
            <a:ext cx="105339" cy="201168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66560" y="2176272"/>
            <a:ext cx="105338" cy="201168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71898" y="2377440"/>
            <a:ext cx="111923" cy="164592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83821" y="2542032"/>
            <a:ext cx="111923" cy="73152"/>
          </a:xfrm>
          <a:prstGeom prst="line">
            <a:avLst/>
          </a:prstGeom>
          <a:ln w="1905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214616" y="2377440"/>
            <a:ext cx="155448" cy="73152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370064" y="2212848"/>
            <a:ext cx="155448" cy="164592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25512" y="2011680"/>
            <a:ext cx="146304" cy="201168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71816" y="2011680"/>
            <a:ext cx="146303" cy="201168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18119" y="2212848"/>
            <a:ext cx="155448" cy="164592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973567" y="2377440"/>
            <a:ext cx="155449" cy="73152"/>
          </a:xfrm>
          <a:prstGeom prst="line">
            <a:avLst/>
          </a:prstGeom>
          <a:ln w="19050">
            <a:solidFill>
              <a:srgbClr val="D59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229600" y="2212848"/>
            <a:ext cx="155448" cy="73152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385048" y="2048256"/>
            <a:ext cx="155448" cy="164592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540496" y="1847088"/>
            <a:ext cx="146304" cy="201168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686800" y="1847088"/>
            <a:ext cx="146304" cy="201168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833104" y="2048256"/>
            <a:ext cx="155448" cy="164592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988552" y="2212848"/>
            <a:ext cx="155448" cy="73152"/>
          </a:xfrm>
          <a:prstGeom prst="line">
            <a:avLst/>
          </a:prstGeom>
          <a:ln w="19050">
            <a:solidFill>
              <a:srgbClr val="B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45936" y="2697480"/>
            <a:ext cx="82296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2468B2"/>
                </a:solidFill>
                <a:latin typeface="Microsoft YaHei"/>
              </a:rPr>
              <a:t>低敏感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2697480"/>
            <a:ext cx="82296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D59B31"/>
                </a:solidFill>
                <a:latin typeface="Microsoft YaHei"/>
              </a:rPr>
              <a:t>中敏感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6175" y="2697480"/>
            <a:ext cx="82296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B33A3A"/>
                </a:solidFill>
                <a:latin typeface="Microsoft YaHei"/>
              </a:rPr>
              <a:t>高敏感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5936" y="2889504"/>
            <a:ext cx="822960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750" b="0">
                <a:solidFill>
                  <a:srgbClr val="5D6875"/>
                </a:solidFill>
                <a:latin typeface="Microsoft YaHei"/>
              </a:rPr>
              <a:t>小噪声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2889504"/>
            <a:ext cx="822960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750" b="0">
                <a:solidFill>
                  <a:srgbClr val="5D6875"/>
                </a:solidFill>
                <a:latin typeface="Microsoft YaHei"/>
              </a:rPr>
              <a:t>适中噪声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5" y="2889504"/>
            <a:ext cx="822960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750" b="0">
                <a:solidFill>
                  <a:srgbClr val="5D6875"/>
                </a:solidFill>
                <a:latin typeface="Microsoft YaHei"/>
              </a:rPr>
              <a:t>强噪声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83096" y="3099816"/>
            <a:ext cx="2606040" cy="16459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17202B"/>
                </a:solidFill>
                <a:latin typeface="Microsoft YaHei"/>
              </a:rPr>
              <a:t>σᵢ = u*Δᵢ　　zᵢ ~ N(0, σ²ᵢ,dim I)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944368" y="2267712"/>
            <a:ext cx="192024" cy="0"/>
          </a:xfrm>
          <a:prstGeom prst="line">
            <a:avLst/>
          </a:prstGeom>
          <a:ln w="1778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044184" y="2267712"/>
            <a:ext cx="192024" cy="0"/>
          </a:xfrm>
          <a:prstGeom prst="line">
            <a:avLst/>
          </a:prstGeom>
          <a:ln w="17780">
            <a:solidFill>
              <a:srgbClr val="26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383280" y="3465576"/>
            <a:ext cx="2971800" cy="24688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2468B2"/>
                </a:solidFill>
                <a:latin typeface="Microsoft YaHei"/>
              </a:rPr>
              <a:t>向量保护与检索效用控制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8912" y="3877056"/>
            <a:ext cx="1298448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2063" y="3968496"/>
            <a:ext cx="228600" cy="228600"/>
          </a:xfrm>
          <a:prstGeom prst="ellipse">
            <a:avLst/>
          </a:prstGeom>
          <a:solidFill>
            <a:srgbClr val="2468B2"/>
          </a:solidFill>
          <a:ln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2063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3941063"/>
            <a:ext cx="95097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2468B2"/>
                </a:solidFill>
                <a:latin typeface="Microsoft YaHei"/>
              </a:rPr>
              <a:t>原始语义向量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4261104"/>
            <a:ext cx="11155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vᵢ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737360" y="4315968"/>
            <a:ext cx="182880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920239" y="3877056"/>
            <a:ext cx="1298448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993391" y="3968496"/>
            <a:ext cx="228600" cy="228600"/>
          </a:xfrm>
          <a:prstGeom prst="ellipse">
            <a:avLst/>
          </a:prstGeom>
          <a:solidFill>
            <a:srgbClr val="267A3F"/>
          </a:solidFill>
          <a:ln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93391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12847" y="3941063"/>
            <a:ext cx="95097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267A3F"/>
                </a:solidFill>
                <a:latin typeface="Microsoft YaHei"/>
              </a:rPr>
              <a:t>L2 范数裁剪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11679" y="4261104"/>
            <a:ext cx="11155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限制向量范数 C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218687" y="4315968"/>
            <a:ext cx="182881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3401568" y="3877056"/>
            <a:ext cx="1298448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7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474720" y="3968496"/>
            <a:ext cx="228600" cy="228600"/>
          </a:xfrm>
          <a:prstGeom prst="ellipse">
            <a:avLst/>
          </a:prstGeom>
          <a:solidFill>
            <a:srgbClr val="C75B1C"/>
          </a:solidFill>
          <a:ln>
            <a:solidFill>
              <a:srgbClr val="C7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74720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94176" y="3941063"/>
            <a:ext cx="95097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C75B1C"/>
                </a:solidFill>
                <a:latin typeface="Microsoft YaHei"/>
              </a:rPr>
              <a:t>维度能量修正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93008" y="4261104"/>
            <a:ext cx="11155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σᵢ,dim = σᵢ·α/√d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700016" y="4315968"/>
            <a:ext cx="182880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4882896" y="3877056"/>
            <a:ext cx="1298448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956048" y="3968496"/>
            <a:ext cx="228600" cy="228600"/>
          </a:xfrm>
          <a:prstGeom prst="ellipse">
            <a:avLst/>
          </a:prstGeom>
          <a:solidFill>
            <a:srgbClr val="B33A3A"/>
          </a:solidFill>
          <a:ln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56048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75504" y="3941063"/>
            <a:ext cx="95097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B33A3A"/>
                </a:solidFill>
                <a:latin typeface="Microsoft YaHei"/>
              </a:rPr>
              <a:t>高斯噪声注入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74336" y="4261104"/>
            <a:ext cx="11155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vᵢᶜ + zᵢ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181344" y="4315968"/>
            <a:ext cx="182880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6364224" y="3877056"/>
            <a:ext cx="1298448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437376" y="3968496"/>
            <a:ext cx="228600" cy="228600"/>
          </a:xfrm>
          <a:prstGeom prst="ellipse">
            <a:avLst/>
          </a:prstGeom>
          <a:solidFill>
            <a:srgbClr val="267A3F"/>
          </a:solidFill>
          <a:ln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37376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56832" y="3941063"/>
            <a:ext cx="95097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267A3F"/>
                </a:solidFill>
                <a:latin typeface="Microsoft YaHei"/>
              </a:rPr>
              <a:t>最终归一化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55664" y="4261104"/>
            <a:ext cx="11155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输出单位向量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662671" y="4315968"/>
            <a:ext cx="182880" cy="0"/>
          </a:xfrm>
          <a:prstGeom prst="line">
            <a:avLst/>
          </a:prstGeom>
          <a:ln w="13970">
            <a:solidFill>
              <a:srgbClr val="2468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845552" y="3877056"/>
            <a:ext cx="1417320" cy="8778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53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918704" y="3968496"/>
            <a:ext cx="228600" cy="228600"/>
          </a:xfrm>
          <a:prstGeom prst="ellipse">
            <a:avLst/>
          </a:prstGeom>
          <a:solidFill>
            <a:srgbClr val="65379F"/>
          </a:solidFill>
          <a:ln>
            <a:solidFill>
              <a:srgbClr val="653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18704" y="3968496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38160" y="3941063"/>
            <a:ext cx="1069848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65379F"/>
                </a:solidFill>
                <a:latin typeface="Microsoft YaHei"/>
              </a:rPr>
              <a:t>HNSW 索引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4261104"/>
            <a:ext cx="123444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17202B"/>
                </a:solidFill>
                <a:latin typeface="Microsoft YaHei"/>
              </a:rPr>
              <a:t>余弦 Top‑K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38912" y="4919472"/>
            <a:ext cx="2743200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6928" y="4974336"/>
            <a:ext cx="658368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1">
                <a:solidFill>
                  <a:srgbClr val="267A3F"/>
                </a:solidFill>
                <a:latin typeface="Microsoft YaHei"/>
              </a:rPr>
              <a:t>裁剪作用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43000" y="4965192"/>
            <a:ext cx="1901952" cy="38404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19" b="0">
                <a:solidFill>
                  <a:srgbClr val="5D6875"/>
                </a:solidFill>
                <a:latin typeface="Microsoft YaHei"/>
              </a:rPr>
              <a:t>建立统一敏感度边界，为高斯机制提供稳定输入。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328416" y="4919472"/>
            <a:ext cx="2907792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56432" y="4974336"/>
            <a:ext cx="749808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1">
                <a:solidFill>
                  <a:srgbClr val="C75B1C"/>
                </a:solidFill>
                <a:latin typeface="Microsoft YaHei"/>
              </a:rPr>
              <a:t>维度修正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42232" y="4965192"/>
            <a:ext cx="1956816" cy="38404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19" b="0">
                <a:solidFill>
                  <a:srgbClr val="5D6875"/>
                </a:solidFill>
                <a:latin typeface="Microsoft YaHei"/>
              </a:rPr>
              <a:t>抑制高维噪声能量累积，减少相似度结构破坏。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82512" y="4919472"/>
            <a:ext cx="2926080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10528" y="4974336"/>
            <a:ext cx="658368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1">
                <a:solidFill>
                  <a:srgbClr val="65379F"/>
                </a:solidFill>
                <a:latin typeface="Microsoft YaHei"/>
              </a:rPr>
              <a:t>检索适配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14032" y="4965192"/>
            <a:ext cx="2048256" cy="38404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19" b="0">
                <a:solidFill>
                  <a:srgbClr val="5D6875"/>
                </a:solidFill>
                <a:latin typeface="Microsoft YaHei"/>
              </a:rPr>
              <a:t>归一化后构建 HNSW，在隐私约束下保持检索效率。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912096" y="1344168"/>
            <a:ext cx="1892807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021824" y="1453895"/>
            <a:ext cx="228600" cy="228600"/>
          </a:xfrm>
          <a:prstGeom prst="ellipse">
            <a:avLst/>
          </a:prstGeom>
          <a:solidFill>
            <a:srgbClr val="267A3F"/>
          </a:solidFill>
          <a:ln>
            <a:solidFill>
              <a:srgbClr val="26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021824" y="1453895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1435608"/>
            <a:ext cx="1234440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267A3F"/>
                </a:solidFill>
                <a:latin typeface="Microsoft YaHei"/>
              </a:rPr>
              <a:t>差异化保护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76688" y="1700784"/>
            <a:ext cx="1581912" cy="5943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40" b="0">
                <a:solidFill>
                  <a:srgbClr val="17202B"/>
                </a:solidFill>
                <a:latin typeface="Microsoft YaHei"/>
              </a:rPr>
              <a:t>不同敏感度分块采用不同隐私预算和噪声强度，避免统一加噪造成保护不足或过度扰动。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912096" y="2569464"/>
            <a:ext cx="1892807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021824" y="2679192"/>
            <a:ext cx="228600" cy="228600"/>
          </a:xfrm>
          <a:prstGeom prst="ellipse">
            <a:avLst/>
          </a:prstGeom>
          <a:solidFill>
            <a:srgbClr val="2468B2"/>
          </a:solidFill>
          <a:ln>
            <a:solidFill>
              <a:srgbClr val="24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21824" y="2679192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32720" y="2660904"/>
            <a:ext cx="1234440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2468B2"/>
                </a:solidFill>
                <a:latin typeface="Microsoft YaHei"/>
              </a:rPr>
              <a:t>效用控制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76688" y="2926080"/>
            <a:ext cx="1581912" cy="5943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40" b="0">
                <a:solidFill>
                  <a:srgbClr val="17202B"/>
                </a:solidFill>
                <a:latin typeface="Microsoft YaHei"/>
              </a:rPr>
              <a:t>结合 L2 裁剪、维度能量修正和最终归一化，降低噪声对向量方向的破坏。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912096" y="3794760"/>
            <a:ext cx="1892807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53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021824" y="3904488"/>
            <a:ext cx="228600" cy="228600"/>
          </a:xfrm>
          <a:prstGeom prst="ellipse">
            <a:avLst/>
          </a:prstGeom>
          <a:solidFill>
            <a:srgbClr val="65379F"/>
          </a:solidFill>
          <a:ln>
            <a:solidFill>
              <a:srgbClr val="653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021824" y="3904488"/>
            <a:ext cx="228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32720" y="3886200"/>
            <a:ext cx="1234440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65379F"/>
                </a:solidFill>
                <a:latin typeface="Microsoft YaHei"/>
              </a:rPr>
              <a:t>高效检索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76688" y="4151376"/>
            <a:ext cx="1581912" cy="5943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40" b="0">
                <a:solidFill>
                  <a:srgbClr val="17202B"/>
                </a:solidFill>
                <a:latin typeface="Microsoft YaHei"/>
              </a:rPr>
              <a:t>使用 HNSW 构建隐私向量索引，在数据规模增长时保持较低查询开销。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912096" y="5065776"/>
            <a:ext cx="1892807" cy="576072"/>
          </a:xfrm>
          <a:prstGeom prst="roundRect">
            <a:avLst/>
          </a:prstGeom>
          <a:solidFill>
            <a:srgbClr val="FFF4EC"/>
          </a:solidFill>
          <a:ln w="11430">
            <a:solidFill>
              <a:srgbClr val="C75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351008" y="5111496"/>
            <a:ext cx="105156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75B1C"/>
                </a:solidFill>
                <a:latin typeface="Microsoft YaHei"/>
              </a:rPr>
              <a:t>核心贡献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76688" y="5321808"/>
            <a:ext cx="157276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40" b="1">
                <a:solidFill>
                  <a:srgbClr val="17202B"/>
                </a:solidFill>
                <a:latin typeface="Microsoft YaHei"/>
              </a:rPr>
              <a:t>将保护强度从“全局固定”转变为“分块自适应”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82880" y="5998464"/>
            <a:ext cx="11823192" cy="667512"/>
          </a:xfrm>
          <a:prstGeom prst="roundRect">
            <a:avLst/>
          </a:prstGeom>
          <a:solidFill>
            <a:srgbClr val="FFF0F0"/>
          </a:solidFill>
          <a:ln w="10160">
            <a:solidFill>
              <a:srgbClr val="E2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02336" y="6089904"/>
            <a:ext cx="786384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B33A3A"/>
                </a:solidFill>
                <a:latin typeface="Microsoft YaHei"/>
              </a:rPr>
              <a:t>统一加噪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25296" y="6080760"/>
            <a:ext cx="4224528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0">
                <a:solidFill>
                  <a:srgbClr val="17202B"/>
                </a:solidFill>
                <a:latin typeface="Microsoft YaHei"/>
              </a:rPr>
              <a:t>固定预算 · 固定噪声 · 高敏感内容可能保护不足 · 低敏感内容容易过度扰动</a:t>
            </a:r>
          </a:p>
        </p:txBody>
      </p:sp>
      <p:sp>
        <p:nvSpPr>
          <p:cNvPr id="139" name="Chevron 138"/>
          <p:cNvSpPr/>
          <p:nvPr/>
        </p:nvSpPr>
        <p:spPr>
          <a:xfrm>
            <a:off x="5577840" y="6126480"/>
            <a:ext cx="347472" cy="219456"/>
          </a:xfrm>
          <a:prstGeom prst="chevron">
            <a:avLst/>
          </a:prstGeom>
          <a:solidFill>
            <a:srgbClr val="B33A3A"/>
          </a:solidFill>
          <a:ln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089904" y="6089904"/>
            <a:ext cx="786384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267A3F"/>
                </a:solidFill>
                <a:latin typeface="Microsoft YaHei"/>
              </a:rPr>
              <a:t>动态加噪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94576" y="6080760"/>
            <a:ext cx="4828032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0">
                <a:solidFill>
                  <a:srgbClr val="17202B"/>
                </a:solidFill>
                <a:latin typeface="Microsoft YaHei"/>
              </a:rPr>
              <a:t>动态预算 · 差异化噪声 · 强化敏感内容保护 · 更好保留低敏感内容的检索效用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敏感度驱动的动态差分隐私保护机制</dc:title>
  <dc:subject>与隐私保护 RAG 系统架构页配套的可编辑第二页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